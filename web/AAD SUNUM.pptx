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arlow Semi-Bold" panose="020B0604020202020204" charset="-94"/>
      <p:regular r:id="rId15"/>
    </p:embeddedFont>
    <p:embeddedFont>
      <p:font typeface="Gagalin" panose="020B0604020202020204" charset="0"/>
      <p:regular r:id="rId16"/>
    </p:embeddedFont>
    <p:embeddedFont>
      <p:font typeface="Open Sauce Bold" panose="020B0604020202020204" charset="-94"/>
      <p:regular r:id="rId17"/>
    </p:embeddedFont>
    <p:embeddedFont>
      <p:font typeface="Poppins Bold" panose="020B0604020202020204" charset="-9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91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95633" y="-908614"/>
            <a:ext cx="26654204" cy="13754571"/>
          </a:xfrm>
          <a:custGeom>
            <a:avLst/>
            <a:gdLst/>
            <a:ahLst/>
            <a:cxnLst/>
            <a:rect l="l" t="t" r="r" b="b"/>
            <a:pathLst>
              <a:path w="26654204" h="13754571">
                <a:moveTo>
                  <a:pt x="0" y="0"/>
                </a:moveTo>
                <a:lnTo>
                  <a:pt x="26654204" y="0"/>
                </a:lnTo>
                <a:lnTo>
                  <a:pt x="26654204" y="13754572"/>
                </a:lnTo>
                <a:lnTo>
                  <a:pt x="0" y="13754572"/>
                </a:lnTo>
                <a:lnTo>
                  <a:pt x="0" y="0"/>
                </a:lnTo>
                <a:close/>
              </a:path>
            </a:pathLst>
          </a:custGeom>
          <a:blipFill>
            <a:blip r:embed="rId2"/>
            <a:stretch>
              <a:fillRect t="-2145" r="-1690" b="-5581"/>
            </a:stretch>
          </a:blipFill>
        </p:spPr>
        <p:txBody>
          <a:bodyPr/>
          <a:lstStyle/>
          <a:p>
            <a:endParaRPr lang="tr-TR"/>
          </a:p>
        </p:txBody>
      </p:sp>
      <p:sp>
        <p:nvSpPr>
          <p:cNvPr id="3" name="Freeform 3"/>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3"/>
            <a:stretch>
              <a:fillRect/>
            </a:stretch>
          </a:blipFill>
        </p:spPr>
        <p:txBody>
          <a:bodyPr/>
          <a:lstStyle/>
          <a:p>
            <a:endParaRPr lang="tr-TR"/>
          </a:p>
        </p:txBody>
      </p:sp>
      <p:sp>
        <p:nvSpPr>
          <p:cNvPr id="4" name="Freeform 4"/>
          <p:cNvSpPr/>
          <p:nvPr/>
        </p:nvSpPr>
        <p:spPr>
          <a:xfrm>
            <a:off x="398889" y="459387"/>
            <a:ext cx="7128724" cy="1485385"/>
          </a:xfrm>
          <a:custGeom>
            <a:avLst/>
            <a:gdLst/>
            <a:ahLst/>
            <a:cxnLst/>
            <a:rect l="l" t="t" r="r" b="b"/>
            <a:pathLst>
              <a:path w="7128724" h="1485385">
                <a:moveTo>
                  <a:pt x="0" y="0"/>
                </a:moveTo>
                <a:lnTo>
                  <a:pt x="7128724" y="0"/>
                </a:lnTo>
                <a:lnTo>
                  <a:pt x="7128724" y="1485385"/>
                </a:lnTo>
                <a:lnTo>
                  <a:pt x="0" y="1485385"/>
                </a:lnTo>
                <a:lnTo>
                  <a:pt x="0" y="0"/>
                </a:lnTo>
                <a:close/>
              </a:path>
            </a:pathLst>
          </a:custGeom>
          <a:blipFill>
            <a:blip r:embed="rId4"/>
            <a:stretch>
              <a:fillRect/>
            </a:stretch>
          </a:blipFill>
        </p:spPr>
        <p:txBody>
          <a:bodyPr/>
          <a:lstStyle/>
          <a:p>
            <a:endParaRPr lang="tr-TR"/>
          </a:p>
        </p:txBody>
      </p:sp>
      <p:sp>
        <p:nvSpPr>
          <p:cNvPr id="5" name="TextBox 5"/>
          <p:cNvSpPr txBox="1"/>
          <p:nvPr/>
        </p:nvSpPr>
        <p:spPr>
          <a:xfrm>
            <a:off x="7755402" y="3884362"/>
            <a:ext cx="9503898" cy="1422966"/>
          </a:xfrm>
          <a:prstGeom prst="rect">
            <a:avLst/>
          </a:prstGeom>
        </p:spPr>
        <p:txBody>
          <a:bodyPr lIns="0" tIns="0" rIns="0" bIns="0" rtlCol="0" anchor="t">
            <a:spAutoFit/>
          </a:bodyPr>
          <a:lstStyle/>
          <a:p>
            <a:pPr algn="r">
              <a:lnSpc>
                <a:spcPts val="11027"/>
              </a:lnSpc>
            </a:pPr>
            <a:r>
              <a:rPr lang="en-US" sz="9589" spc="-239">
                <a:solidFill>
                  <a:srgbClr val="000000"/>
                </a:solidFill>
                <a:latin typeface="Gagalin"/>
                <a:ea typeface="Gagalin"/>
                <a:cs typeface="Gagalin"/>
                <a:sym typeface="Gagalin"/>
              </a:rPr>
              <a:t>ANATOLIA AERO</a:t>
            </a:r>
          </a:p>
        </p:txBody>
      </p:sp>
      <p:sp>
        <p:nvSpPr>
          <p:cNvPr id="6" name="TextBox 6"/>
          <p:cNvSpPr txBox="1"/>
          <p:nvPr/>
        </p:nvSpPr>
        <p:spPr>
          <a:xfrm>
            <a:off x="9822539" y="5027930"/>
            <a:ext cx="7436761" cy="1084887"/>
          </a:xfrm>
          <a:prstGeom prst="rect">
            <a:avLst/>
          </a:prstGeom>
        </p:spPr>
        <p:txBody>
          <a:bodyPr lIns="0" tIns="0" rIns="0" bIns="0" rtlCol="0" anchor="t">
            <a:spAutoFit/>
          </a:bodyPr>
          <a:lstStyle/>
          <a:p>
            <a:pPr algn="r">
              <a:lnSpc>
                <a:spcPts val="8450"/>
              </a:lnSpc>
            </a:pPr>
            <a:r>
              <a:rPr lang="en-US" sz="7348">
                <a:solidFill>
                  <a:srgbClr val="000000"/>
                </a:solidFill>
                <a:latin typeface="Gagalin"/>
                <a:ea typeface="Gagalin"/>
                <a:cs typeface="Gagalin"/>
                <a:sym typeface="Gagalin"/>
              </a:rPr>
              <a:t>DESIGN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1450" y="-2868412"/>
            <a:ext cx="22030776" cy="13666467"/>
          </a:xfrm>
          <a:custGeom>
            <a:avLst/>
            <a:gdLst/>
            <a:ahLst/>
            <a:cxnLst/>
            <a:rect l="l" t="t" r="r" b="b"/>
            <a:pathLst>
              <a:path w="22030776" h="13666467">
                <a:moveTo>
                  <a:pt x="0" y="0"/>
                </a:moveTo>
                <a:lnTo>
                  <a:pt x="22030776" y="0"/>
                </a:lnTo>
                <a:lnTo>
                  <a:pt x="22030776" y="13666467"/>
                </a:lnTo>
                <a:lnTo>
                  <a:pt x="0" y="13666467"/>
                </a:lnTo>
                <a:lnTo>
                  <a:pt x="0" y="0"/>
                </a:lnTo>
                <a:close/>
              </a:path>
            </a:pathLst>
          </a:custGeom>
          <a:blipFill>
            <a:blip r:embed="rId2"/>
            <a:stretch>
              <a:fillRect t="-48691" b="-66246"/>
            </a:stretch>
          </a:blipFill>
        </p:spPr>
        <p:txBody>
          <a:bodyPr/>
          <a:lstStyle/>
          <a:p>
            <a:endParaRPr lang="tr-TR"/>
          </a:p>
        </p:txBody>
      </p:sp>
      <p:sp>
        <p:nvSpPr>
          <p:cNvPr id="3" name="Freeform 3"/>
          <p:cNvSpPr/>
          <p:nvPr/>
        </p:nvSpPr>
        <p:spPr>
          <a:xfrm>
            <a:off x="10772154" y="2995809"/>
            <a:ext cx="6913176" cy="5493540"/>
          </a:xfrm>
          <a:custGeom>
            <a:avLst/>
            <a:gdLst/>
            <a:ahLst/>
            <a:cxnLst/>
            <a:rect l="l" t="t" r="r" b="b"/>
            <a:pathLst>
              <a:path w="6913176" h="5493540">
                <a:moveTo>
                  <a:pt x="0" y="0"/>
                </a:moveTo>
                <a:lnTo>
                  <a:pt x="6913176" y="0"/>
                </a:lnTo>
                <a:lnTo>
                  <a:pt x="6913176" y="5493540"/>
                </a:lnTo>
                <a:lnTo>
                  <a:pt x="0" y="5493540"/>
                </a:lnTo>
                <a:lnTo>
                  <a:pt x="0" y="0"/>
                </a:lnTo>
                <a:close/>
              </a:path>
            </a:pathLst>
          </a:custGeom>
          <a:blipFill>
            <a:blip r:embed="rId3"/>
            <a:stretch>
              <a:fillRect l="-22258" t="-35919" r="-21752"/>
            </a:stretch>
          </a:blipFill>
          <a:ln w="47625" cap="rnd">
            <a:solidFill>
              <a:srgbClr val="000000"/>
            </a:solidFill>
            <a:prstDash val="solid"/>
            <a:round/>
          </a:ln>
        </p:spPr>
        <p:txBody>
          <a:bodyPr/>
          <a:lstStyle/>
          <a:p>
            <a:endParaRPr lang="tr-TR"/>
          </a:p>
        </p:txBody>
      </p:sp>
      <p:sp>
        <p:nvSpPr>
          <p:cNvPr id="4" name="AutoShape 4"/>
          <p:cNvSpPr/>
          <p:nvPr/>
        </p:nvSpPr>
        <p:spPr>
          <a:xfrm>
            <a:off x="1493523" y="5124450"/>
            <a:ext cx="6492240" cy="0"/>
          </a:xfrm>
          <a:prstGeom prst="line">
            <a:avLst/>
          </a:prstGeom>
          <a:ln w="38100" cap="flat">
            <a:solidFill>
              <a:srgbClr val="000000"/>
            </a:solidFill>
            <a:prstDash val="solid"/>
            <a:headEnd type="none" w="sm" len="sm"/>
            <a:tailEnd type="none" w="sm" len="sm"/>
          </a:ln>
        </p:spPr>
        <p:txBody>
          <a:bodyPr/>
          <a:lstStyle/>
          <a:p>
            <a:endParaRPr lang="tr-TR"/>
          </a:p>
        </p:txBody>
      </p:sp>
      <p:sp>
        <p:nvSpPr>
          <p:cNvPr id="5" name="Freeform 5"/>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4"/>
            <a:stretch>
              <a:fillRect/>
            </a:stretch>
          </a:blipFill>
        </p:spPr>
        <p:txBody>
          <a:bodyPr/>
          <a:lstStyle/>
          <a:p>
            <a:endParaRPr lang="tr-TR"/>
          </a:p>
        </p:txBody>
      </p:sp>
      <p:sp>
        <p:nvSpPr>
          <p:cNvPr id="6" name="TextBox 6"/>
          <p:cNvSpPr txBox="1"/>
          <p:nvPr/>
        </p:nvSpPr>
        <p:spPr>
          <a:xfrm>
            <a:off x="1493523" y="5419160"/>
            <a:ext cx="8572620" cy="3541867"/>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Eskişehir</a:t>
            </a:r>
            <a:r>
              <a:rPr lang="en-US" sz="2469" b="1" spc="56" dirty="0">
                <a:solidFill>
                  <a:srgbClr val="000000"/>
                </a:solidFill>
                <a:latin typeface="Barlow Semi-Bold"/>
                <a:ea typeface="Barlow Semi-Bold"/>
                <a:cs typeface="Barlow Semi-Bold"/>
                <a:sym typeface="Barlow Semi-Bold"/>
              </a:rPr>
              <a:t> Teknik </a:t>
            </a:r>
            <a:r>
              <a:rPr lang="en-US" sz="2469" b="1" spc="56" dirty="0" err="1">
                <a:solidFill>
                  <a:srgbClr val="000000"/>
                </a:solidFill>
                <a:latin typeface="Barlow Semi-Bold"/>
                <a:ea typeface="Barlow Semi-Bold"/>
                <a:cs typeface="Barlow Semi-Bold"/>
                <a:sym typeface="Barlow Semi-Bold"/>
              </a:rPr>
              <a:t>Üniversitesi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öğrencilerinden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oluşan</a:t>
            </a:r>
            <a:r>
              <a:rPr lang="en-US" sz="2469" b="1" spc="56" dirty="0">
                <a:solidFill>
                  <a:srgbClr val="000000"/>
                </a:solidFill>
                <a:latin typeface="Barlow Semi-Bold"/>
                <a:ea typeface="Barlow Semi-Bold"/>
                <a:cs typeface="Barlow Semi-Bold"/>
                <a:sym typeface="Barlow Semi-Bold"/>
              </a:rPr>
              <a:t> ANATOLIA AERO DESIGN </a:t>
            </a:r>
            <a:r>
              <a:rPr lang="en-US" sz="2469" b="1" spc="56" dirty="0" err="1">
                <a:solidFill>
                  <a:srgbClr val="000000"/>
                </a:solidFill>
                <a:latin typeface="Barlow Semi-Bold"/>
                <a:ea typeface="Barlow Semi-Bold"/>
                <a:cs typeface="Barlow Semi-Bold"/>
                <a:sym typeface="Barlow Semi-Bold"/>
              </a:rPr>
              <a:t>ekibi</a:t>
            </a:r>
            <a:r>
              <a:rPr lang="en-US" sz="2469" b="1" spc="56" dirty="0">
                <a:solidFill>
                  <a:srgbClr val="000000"/>
                </a:solidFill>
                <a:latin typeface="Barlow Semi-Bold"/>
                <a:ea typeface="Barlow Semi-Bold"/>
                <a:cs typeface="Barlow Semi-Bold"/>
                <a:sym typeface="Barlow Semi-Bold"/>
              </a:rPr>
              <a:t>, 2011 </a:t>
            </a:r>
            <a:r>
              <a:rPr lang="en-US" sz="2469" b="1" spc="56" dirty="0" err="1">
                <a:solidFill>
                  <a:srgbClr val="000000"/>
                </a:solidFill>
                <a:latin typeface="Barlow Semi-Bold"/>
                <a:ea typeface="Barlow Semi-Bold"/>
                <a:cs typeface="Barlow Semi-Bold"/>
                <a:sym typeface="Barlow Semi-Bold"/>
              </a:rPr>
              <a:t>yılından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bu</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yana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projeler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üreterek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ulusal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uluslararası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yarışmalara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katılmaktadır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Ekibin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amacı</a:t>
            </a:r>
            <a:r>
              <a:rPr lang="en-US" sz="2469" b="1" spc="56" dirty="0">
                <a:solidFill>
                  <a:srgbClr val="000000"/>
                </a:solidFill>
                <a:latin typeface="Barlow Semi-Bold"/>
                <a:ea typeface="Barlow Semi-Bold"/>
                <a:cs typeface="Barlow Semi-Bold"/>
                <a:sym typeface="Barlow Semi-Bold"/>
              </a:rPr>
              <a:t>, son </a:t>
            </a:r>
            <a:r>
              <a:rPr lang="en-US" sz="2469" b="1" spc="56" dirty="0" err="1">
                <a:solidFill>
                  <a:srgbClr val="000000"/>
                </a:solidFill>
                <a:latin typeface="Barlow Semi-Bold"/>
                <a:ea typeface="Barlow Semi-Bold"/>
                <a:cs typeface="Barlow Semi-Bold"/>
                <a:sym typeface="Barlow Semi-Bold"/>
              </a:rPr>
              <a:t>yıllarda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küresel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ilgi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odağı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olan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İnsansız</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Hava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Araçlarını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özgün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şekilde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tasarlayıp</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üretmek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ülkemizi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üniversitemizi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dünyanın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dört</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yanında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en</a:t>
            </a:r>
            <a:r>
              <a:rPr lang="en-US" sz="2469" b="1" spc="56" dirty="0">
                <a:solidFill>
                  <a:srgbClr val="000000"/>
                </a:solidFill>
                <a:latin typeface="Barlow Semi-Bold"/>
                <a:ea typeface="Barlow Semi-Bold"/>
                <a:cs typeface="Barlow Semi-Bold"/>
                <a:sym typeface="Barlow Semi-Bold"/>
              </a:rPr>
              <a:t> iyi İHA </a:t>
            </a:r>
            <a:r>
              <a:rPr lang="en-US" sz="2469" b="1" spc="56" dirty="0" err="1">
                <a:solidFill>
                  <a:srgbClr val="000000"/>
                </a:solidFill>
                <a:latin typeface="Barlow Semi-Bold"/>
                <a:ea typeface="Barlow Semi-Bold"/>
                <a:cs typeface="Barlow Semi-Bold"/>
                <a:sym typeface="Barlow Semi-Bold"/>
              </a:rPr>
              <a:t>tasarım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ekipleri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karşısında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başarıyla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temsil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etmektir</a:t>
            </a:r>
            <a:r>
              <a:rPr lang="tr-TR" sz="2469" b="1" spc="56" dirty="0">
                <a:solidFill>
                  <a:srgbClr val="000000"/>
                </a:solidFill>
                <a:latin typeface="Barlow Semi-Bold"/>
                <a:ea typeface="Barlow Semi-Bold"/>
                <a:cs typeface="Barlow Semi-Bold"/>
                <a:sym typeface="Barlow Semi-Bold"/>
              </a:rPr>
              <a:t>.</a:t>
            </a:r>
            <a:endParaRPr lang="en-US" sz="2469" b="1" spc="56" dirty="0">
              <a:solidFill>
                <a:srgbClr val="000000"/>
              </a:solidFill>
              <a:latin typeface="Barlow Semi-Bold"/>
              <a:ea typeface="Barlow Semi-Bold"/>
              <a:cs typeface="Barlow Semi-Bold"/>
              <a:sym typeface="Barlow Semi-Bold"/>
            </a:endParaRPr>
          </a:p>
        </p:txBody>
      </p:sp>
      <p:sp>
        <p:nvSpPr>
          <p:cNvPr id="7" name="TextBox 7"/>
          <p:cNvSpPr txBox="1"/>
          <p:nvPr/>
        </p:nvSpPr>
        <p:spPr>
          <a:xfrm>
            <a:off x="1493523" y="1737471"/>
            <a:ext cx="6334094" cy="3241450"/>
          </a:xfrm>
          <a:prstGeom prst="rect">
            <a:avLst/>
          </a:prstGeom>
        </p:spPr>
        <p:txBody>
          <a:bodyPr lIns="0" tIns="0" rIns="0" bIns="0" rtlCol="0" anchor="t">
            <a:spAutoFit/>
          </a:bodyPr>
          <a:lstStyle/>
          <a:p>
            <a:pPr algn="l">
              <a:lnSpc>
                <a:spcPts val="12828"/>
              </a:lnSpc>
            </a:pPr>
            <a:r>
              <a:rPr lang="en-US" sz="10022" spc="-20">
                <a:solidFill>
                  <a:srgbClr val="000000"/>
                </a:solidFill>
                <a:latin typeface="Poppins Bold"/>
                <a:ea typeface="Poppins Bold"/>
                <a:cs typeface="Poppins Bold"/>
                <a:sym typeface="Poppins Bold"/>
              </a:rPr>
              <a:t>BİZ KİMİZ?</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0" y="-2095500"/>
            <a:ext cx="23628388" cy="13666467"/>
          </a:xfrm>
          <a:custGeom>
            <a:avLst/>
            <a:gdLst/>
            <a:ahLst/>
            <a:cxnLst/>
            <a:rect l="l" t="t" r="r" b="b"/>
            <a:pathLst>
              <a:path w="23628388" h="13666467">
                <a:moveTo>
                  <a:pt x="0" y="0"/>
                </a:moveTo>
                <a:lnTo>
                  <a:pt x="23628387" y="0"/>
                </a:lnTo>
                <a:lnTo>
                  <a:pt x="23628387" y="13666468"/>
                </a:lnTo>
                <a:lnTo>
                  <a:pt x="0" y="13666468"/>
                </a:lnTo>
                <a:lnTo>
                  <a:pt x="0" y="0"/>
                </a:lnTo>
                <a:close/>
              </a:path>
            </a:pathLst>
          </a:custGeom>
          <a:blipFill>
            <a:blip r:embed="rId2"/>
            <a:stretch>
              <a:fillRect t="-55847" b="-74676"/>
            </a:stretch>
          </a:blipFill>
        </p:spPr>
        <p:txBody>
          <a:bodyPr/>
          <a:lstStyle/>
          <a:p>
            <a:endParaRPr lang="tr-TR" dirty="0"/>
          </a:p>
        </p:txBody>
      </p:sp>
      <p:sp>
        <p:nvSpPr>
          <p:cNvPr id="3" name="Freeform 3"/>
          <p:cNvSpPr/>
          <p:nvPr/>
        </p:nvSpPr>
        <p:spPr>
          <a:xfrm>
            <a:off x="1028700" y="2736927"/>
            <a:ext cx="7669047" cy="4453264"/>
          </a:xfrm>
          <a:custGeom>
            <a:avLst/>
            <a:gdLst/>
            <a:ahLst/>
            <a:cxnLst/>
            <a:rect l="l" t="t" r="r" b="b"/>
            <a:pathLst>
              <a:path w="7669047" h="4453264">
                <a:moveTo>
                  <a:pt x="0" y="0"/>
                </a:moveTo>
                <a:lnTo>
                  <a:pt x="7669047" y="0"/>
                </a:lnTo>
                <a:lnTo>
                  <a:pt x="7669047" y="4453264"/>
                </a:lnTo>
                <a:lnTo>
                  <a:pt x="0" y="4453264"/>
                </a:lnTo>
                <a:lnTo>
                  <a:pt x="0" y="0"/>
                </a:lnTo>
                <a:close/>
              </a:path>
            </a:pathLst>
          </a:custGeom>
          <a:blipFill>
            <a:blip r:embed="rId3"/>
            <a:stretch>
              <a:fillRect l="-16633" r="-3403"/>
            </a:stretch>
          </a:blipFill>
          <a:ln w="95250" cap="rnd">
            <a:solidFill>
              <a:srgbClr val="000000"/>
            </a:solidFill>
            <a:prstDash val="solid"/>
            <a:round/>
          </a:ln>
        </p:spPr>
        <p:txBody>
          <a:bodyPr/>
          <a:lstStyle/>
          <a:p>
            <a:endParaRPr lang="tr-TR"/>
          </a:p>
        </p:txBody>
      </p:sp>
      <p:sp>
        <p:nvSpPr>
          <p:cNvPr id="4" name="Freeform 4"/>
          <p:cNvSpPr/>
          <p:nvPr/>
        </p:nvSpPr>
        <p:spPr>
          <a:xfrm>
            <a:off x="9567892" y="2736927"/>
            <a:ext cx="7691408" cy="4453264"/>
          </a:xfrm>
          <a:custGeom>
            <a:avLst/>
            <a:gdLst/>
            <a:ahLst/>
            <a:cxnLst/>
            <a:rect l="l" t="t" r="r" b="b"/>
            <a:pathLst>
              <a:path w="7691408" h="4453264">
                <a:moveTo>
                  <a:pt x="0" y="0"/>
                </a:moveTo>
                <a:lnTo>
                  <a:pt x="7691408" y="0"/>
                </a:lnTo>
                <a:lnTo>
                  <a:pt x="7691408" y="4453264"/>
                </a:lnTo>
                <a:lnTo>
                  <a:pt x="0" y="4453264"/>
                </a:lnTo>
                <a:lnTo>
                  <a:pt x="0" y="0"/>
                </a:lnTo>
                <a:close/>
              </a:path>
            </a:pathLst>
          </a:custGeom>
          <a:blipFill>
            <a:blip r:embed="rId4"/>
            <a:stretch>
              <a:fillRect r="-19688"/>
            </a:stretch>
          </a:blipFill>
          <a:ln w="95250" cap="rnd">
            <a:solidFill>
              <a:srgbClr val="000000"/>
            </a:solidFill>
            <a:prstDash val="solid"/>
            <a:round/>
          </a:ln>
        </p:spPr>
        <p:txBody>
          <a:bodyPr/>
          <a:lstStyle/>
          <a:p>
            <a:endParaRPr lang="tr-TR"/>
          </a:p>
        </p:txBody>
      </p:sp>
      <p:sp>
        <p:nvSpPr>
          <p:cNvPr id="5" name="Freeform 5"/>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5"/>
            <a:stretch>
              <a:fillRect/>
            </a:stretch>
          </a:blipFill>
        </p:spPr>
        <p:txBody>
          <a:bodyPr/>
          <a:lstStyle/>
          <a:p>
            <a:endParaRPr lang="tr-TR"/>
          </a:p>
        </p:txBody>
      </p:sp>
      <p:sp>
        <p:nvSpPr>
          <p:cNvPr id="6" name="TextBox 6"/>
          <p:cNvSpPr txBox="1"/>
          <p:nvPr/>
        </p:nvSpPr>
        <p:spPr>
          <a:xfrm>
            <a:off x="4036754" y="328483"/>
            <a:ext cx="10214492"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YAPTIĞIMIZ PROJELER </a:t>
            </a:r>
          </a:p>
        </p:txBody>
      </p:sp>
      <p:sp>
        <p:nvSpPr>
          <p:cNvPr id="7" name="TextBox 7"/>
          <p:cNvSpPr txBox="1"/>
          <p:nvPr/>
        </p:nvSpPr>
        <p:spPr>
          <a:xfrm>
            <a:off x="1028700" y="1817193"/>
            <a:ext cx="4704611" cy="2500685"/>
          </a:xfrm>
          <a:prstGeom prst="rect">
            <a:avLst/>
          </a:prstGeom>
        </p:spPr>
        <p:txBody>
          <a:bodyPr lIns="0" tIns="0" rIns="0" bIns="0" rtlCol="0" anchor="t">
            <a:spAutoFit/>
          </a:bodyPr>
          <a:lstStyle/>
          <a:p>
            <a:pPr algn="l">
              <a:lnSpc>
                <a:spcPts val="3907"/>
              </a:lnSpc>
            </a:pPr>
            <a:r>
              <a:rPr lang="en-US" sz="3600" spc="64" dirty="0">
                <a:solidFill>
                  <a:srgbClr val="000000"/>
                </a:solidFill>
                <a:latin typeface="Poppins Bold"/>
                <a:ea typeface="Poppins Bold"/>
                <a:cs typeface="Poppins Bold"/>
                <a:sym typeface="Poppins Bold"/>
              </a:rPr>
              <a:t>J</a:t>
            </a:r>
            <a:r>
              <a:rPr lang="tr-TR" sz="3600" spc="64" dirty="0">
                <a:solidFill>
                  <a:srgbClr val="000000"/>
                </a:solidFill>
                <a:latin typeface="Poppins Bold"/>
                <a:ea typeface="Poppins Bold"/>
                <a:cs typeface="Poppins Bold"/>
                <a:sym typeface="Poppins Bold"/>
              </a:rPr>
              <a:t>AEGER</a:t>
            </a:r>
            <a:r>
              <a:rPr lang="en-US" sz="3600" spc="64" dirty="0">
                <a:solidFill>
                  <a:srgbClr val="000000"/>
                </a:solidFill>
                <a:latin typeface="Poppins Bold"/>
                <a:ea typeface="Poppins Bold"/>
                <a:cs typeface="Poppins Bold"/>
                <a:sym typeface="Poppins Bold"/>
              </a:rPr>
              <a:t> </a:t>
            </a:r>
          </a:p>
          <a:p>
            <a:pPr algn="l">
              <a:lnSpc>
                <a:spcPts val="3907"/>
              </a:lnSpc>
            </a:pPr>
            <a:endParaRPr lang="en-US" sz="2790" spc="64" dirty="0">
              <a:solidFill>
                <a:srgbClr val="000000"/>
              </a:solidFill>
              <a:latin typeface="Poppins Bold"/>
              <a:ea typeface="Poppins Bold"/>
              <a:cs typeface="Poppins Bold"/>
              <a:sym typeface="Poppins Bold"/>
            </a:endParaRPr>
          </a:p>
          <a:p>
            <a:pPr algn="l">
              <a:lnSpc>
                <a:spcPts val="3907"/>
              </a:lnSpc>
            </a:pPr>
            <a:endParaRPr lang="en-US" sz="2790" spc="64" dirty="0">
              <a:solidFill>
                <a:srgbClr val="000000"/>
              </a:solidFill>
              <a:latin typeface="Poppins Bold"/>
              <a:ea typeface="Poppins Bold"/>
              <a:cs typeface="Poppins Bold"/>
              <a:sym typeface="Poppins Bold"/>
            </a:endParaRPr>
          </a:p>
          <a:p>
            <a:pPr algn="l">
              <a:lnSpc>
                <a:spcPts val="3907"/>
              </a:lnSpc>
            </a:pPr>
            <a:endParaRPr lang="en-US" sz="2790" spc="64" dirty="0">
              <a:solidFill>
                <a:srgbClr val="000000"/>
              </a:solidFill>
              <a:latin typeface="Poppins Bold"/>
              <a:ea typeface="Poppins Bold"/>
              <a:cs typeface="Poppins Bold"/>
              <a:sym typeface="Poppins Bold"/>
            </a:endParaRPr>
          </a:p>
          <a:p>
            <a:pPr algn="l">
              <a:lnSpc>
                <a:spcPts val="3907"/>
              </a:lnSpc>
            </a:pPr>
            <a:endParaRPr lang="en-US" sz="2790" spc="64" dirty="0">
              <a:solidFill>
                <a:srgbClr val="000000"/>
              </a:solidFill>
              <a:latin typeface="Poppins Bold"/>
              <a:ea typeface="Poppins Bold"/>
              <a:cs typeface="Poppins Bold"/>
              <a:sym typeface="Poppins Bold"/>
            </a:endParaRPr>
          </a:p>
        </p:txBody>
      </p:sp>
      <p:sp>
        <p:nvSpPr>
          <p:cNvPr id="8" name="TextBox 8"/>
          <p:cNvSpPr txBox="1"/>
          <p:nvPr/>
        </p:nvSpPr>
        <p:spPr>
          <a:xfrm>
            <a:off x="1028700" y="7533091"/>
            <a:ext cx="5825073" cy="2949710"/>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Jaeger kuşundan esinlenilerek tasarlanan uçağımız modüler bir tasarıma sahiptir ve SAE Aero Design 2017'de 1.'lik elde etmiştir.</a:t>
            </a:r>
          </a:p>
          <a:p>
            <a:pPr algn="l">
              <a:lnSpc>
                <a:spcPts val="3177"/>
              </a:lnSpc>
            </a:pPr>
            <a:endParaRPr lang="en-US" sz="2469" b="1" spc="56">
              <a:solidFill>
                <a:srgbClr val="000000"/>
              </a:solidFill>
              <a:latin typeface="Barlow Semi-Bold"/>
              <a:ea typeface="Barlow Semi-Bold"/>
              <a:cs typeface="Barlow Semi-Bold"/>
              <a:sym typeface="Barlow Semi-Bold"/>
            </a:endParaRPr>
          </a:p>
          <a:p>
            <a:pPr algn="l">
              <a:lnSpc>
                <a:spcPts val="3177"/>
              </a:lnSpc>
            </a:pPr>
            <a:endParaRPr lang="en-US" sz="2469" b="1" spc="56">
              <a:solidFill>
                <a:srgbClr val="000000"/>
              </a:solidFill>
              <a:latin typeface="Barlow Semi-Bold"/>
              <a:ea typeface="Barlow Semi-Bold"/>
              <a:cs typeface="Barlow Semi-Bold"/>
              <a:sym typeface="Barlow Semi-Bold"/>
            </a:endParaRPr>
          </a:p>
          <a:p>
            <a:pPr algn="l">
              <a:lnSpc>
                <a:spcPts val="3177"/>
              </a:lnSpc>
            </a:pPr>
            <a:endParaRPr lang="en-US" sz="2469" b="1" spc="56">
              <a:solidFill>
                <a:srgbClr val="000000"/>
              </a:solidFill>
              <a:latin typeface="Barlow Semi-Bold"/>
              <a:ea typeface="Barlow Semi-Bold"/>
              <a:cs typeface="Barlow Semi-Bold"/>
              <a:sym typeface="Barlow Semi-Bold"/>
            </a:endParaRPr>
          </a:p>
        </p:txBody>
      </p:sp>
      <p:sp>
        <p:nvSpPr>
          <p:cNvPr id="9" name="TextBox 9"/>
          <p:cNvSpPr txBox="1"/>
          <p:nvPr/>
        </p:nvSpPr>
        <p:spPr>
          <a:xfrm>
            <a:off x="9567892" y="1817193"/>
            <a:ext cx="5825073" cy="513602"/>
          </a:xfrm>
          <a:prstGeom prst="rect">
            <a:avLst/>
          </a:prstGeom>
        </p:spPr>
        <p:txBody>
          <a:bodyPr lIns="0" tIns="0" rIns="0" bIns="0" rtlCol="0" anchor="t">
            <a:spAutoFit/>
          </a:bodyPr>
          <a:lstStyle/>
          <a:p>
            <a:pPr algn="l">
              <a:lnSpc>
                <a:spcPts val="3906"/>
              </a:lnSpc>
            </a:pPr>
            <a:r>
              <a:rPr lang="en-US" sz="3600" spc="64" dirty="0">
                <a:solidFill>
                  <a:srgbClr val="000000"/>
                </a:solidFill>
                <a:latin typeface="Poppins Bold"/>
                <a:ea typeface="Poppins Bold"/>
                <a:cs typeface="Poppins Bold"/>
                <a:sym typeface="Poppins Bold"/>
              </a:rPr>
              <a:t>H</a:t>
            </a:r>
            <a:r>
              <a:rPr lang="tr-TR" sz="3600" spc="64" dirty="0">
                <a:solidFill>
                  <a:srgbClr val="000000"/>
                </a:solidFill>
                <a:latin typeface="Poppins Bold"/>
                <a:ea typeface="Poppins Bold"/>
                <a:cs typeface="Poppins Bold"/>
                <a:sym typeface="Poppins Bold"/>
              </a:rPr>
              <a:t>ARPY</a:t>
            </a:r>
            <a:endParaRPr lang="en-US" sz="2790" spc="64" dirty="0">
              <a:solidFill>
                <a:srgbClr val="000000"/>
              </a:solidFill>
              <a:latin typeface="Poppins Bold"/>
              <a:ea typeface="Poppins Bold"/>
              <a:cs typeface="Poppins Bold"/>
              <a:sym typeface="Poppins Bold"/>
            </a:endParaRPr>
          </a:p>
        </p:txBody>
      </p:sp>
      <p:sp>
        <p:nvSpPr>
          <p:cNvPr id="10" name="TextBox 10"/>
          <p:cNvSpPr txBox="1"/>
          <p:nvPr/>
        </p:nvSpPr>
        <p:spPr>
          <a:xfrm>
            <a:off x="9567892" y="7533091"/>
            <a:ext cx="6888862" cy="218517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Teknofest TÜBİTAK UAV 2018 Yarışması için tasarlanan ve 1.'lik elde eden uçağımız, otonom uçuş kabiliyetine sahip olup kanat altında 4 adet yük taşıma ve hedefe atma kapasitesine sahiptir.</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31838" y="-2129517"/>
            <a:ext cx="23628388" cy="13666467"/>
          </a:xfrm>
          <a:custGeom>
            <a:avLst/>
            <a:gdLst/>
            <a:ahLst/>
            <a:cxnLst/>
            <a:rect l="l" t="t" r="r" b="b"/>
            <a:pathLst>
              <a:path w="23628388" h="13666467">
                <a:moveTo>
                  <a:pt x="0" y="0"/>
                </a:moveTo>
                <a:lnTo>
                  <a:pt x="23628387" y="0"/>
                </a:lnTo>
                <a:lnTo>
                  <a:pt x="23628387" y="13666468"/>
                </a:lnTo>
                <a:lnTo>
                  <a:pt x="0" y="13666468"/>
                </a:lnTo>
                <a:lnTo>
                  <a:pt x="0" y="0"/>
                </a:lnTo>
                <a:close/>
              </a:path>
            </a:pathLst>
          </a:custGeom>
          <a:blipFill>
            <a:blip r:embed="rId2"/>
            <a:stretch>
              <a:fillRect t="-55847" b="-74676"/>
            </a:stretch>
          </a:blipFill>
        </p:spPr>
        <p:txBody>
          <a:bodyPr/>
          <a:lstStyle/>
          <a:p>
            <a:endParaRPr lang="tr-TR"/>
          </a:p>
        </p:txBody>
      </p:sp>
      <p:sp>
        <p:nvSpPr>
          <p:cNvPr id="3" name="Freeform 3"/>
          <p:cNvSpPr/>
          <p:nvPr/>
        </p:nvSpPr>
        <p:spPr>
          <a:xfrm>
            <a:off x="1028700" y="2783992"/>
            <a:ext cx="7564125" cy="3583434"/>
          </a:xfrm>
          <a:custGeom>
            <a:avLst/>
            <a:gdLst/>
            <a:ahLst/>
            <a:cxnLst/>
            <a:rect l="l" t="t" r="r" b="b"/>
            <a:pathLst>
              <a:path w="7564125" h="3583434">
                <a:moveTo>
                  <a:pt x="0" y="0"/>
                </a:moveTo>
                <a:lnTo>
                  <a:pt x="7564125" y="0"/>
                </a:lnTo>
                <a:lnTo>
                  <a:pt x="7564125" y="3583434"/>
                </a:lnTo>
                <a:lnTo>
                  <a:pt x="0" y="3583434"/>
                </a:lnTo>
                <a:lnTo>
                  <a:pt x="0" y="0"/>
                </a:lnTo>
                <a:close/>
              </a:path>
            </a:pathLst>
          </a:custGeom>
          <a:blipFill>
            <a:blip r:embed="rId3"/>
            <a:stretch>
              <a:fillRect t="-1188" b="-1188"/>
            </a:stretch>
          </a:blipFill>
          <a:ln w="95250" cap="rnd">
            <a:solidFill>
              <a:srgbClr val="000000"/>
            </a:solidFill>
            <a:prstDash val="solid"/>
            <a:round/>
          </a:ln>
        </p:spPr>
        <p:txBody>
          <a:bodyPr/>
          <a:lstStyle/>
          <a:p>
            <a:endParaRPr lang="tr-TR"/>
          </a:p>
        </p:txBody>
      </p:sp>
      <p:sp>
        <p:nvSpPr>
          <p:cNvPr id="4" name="Freeform 4"/>
          <p:cNvSpPr/>
          <p:nvPr/>
        </p:nvSpPr>
        <p:spPr>
          <a:xfrm>
            <a:off x="9695175" y="2783992"/>
            <a:ext cx="7564125" cy="3583434"/>
          </a:xfrm>
          <a:custGeom>
            <a:avLst/>
            <a:gdLst/>
            <a:ahLst/>
            <a:cxnLst/>
            <a:rect l="l" t="t" r="r" b="b"/>
            <a:pathLst>
              <a:path w="7564125" h="3583434">
                <a:moveTo>
                  <a:pt x="0" y="0"/>
                </a:moveTo>
                <a:lnTo>
                  <a:pt x="7564125" y="0"/>
                </a:lnTo>
                <a:lnTo>
                  <a:pt x="7564125" y="3583434"/>
                </a:lnTo>
                <a:lnTo>
                  <a:pt x="0" y="3583434"/>
                </a:lnTo>
                <a:lnTo>
                  <a:pt x="0" y="0"/>
                </a:lnTo>
                <a:close/>
              </a:path>
            </a:pathLst>
          </a:custGeom>
          <a:blipFill>
            <a:blip r:embed="rId4"/>
            <a:stretch>
              <a:fillRect t="-1188" b="-1188"/>
            </a:stretch>
          </a:blipFill>
          <a:ln w="95250" cap="rnd">
            <a:solidFill>
              <a:srgbClr val="000000"/>
            </a:solidFill>
            <a:prstDash val="solid"/>
            <a:round/>
          </a:ln>
        </p:spPr>
        <p:txBody>
          <a:bodyPr/>
          <a:lstStyle/>
          <a:p>
            <a:endParaRPr lang="tr-TR"/>
          </a:p>
        </p:txBody>
      </p:sp>
      <p:sp>
        <p:nvSpPr>
          <p:cNvPr id="5" name="TextBox 5"/>
          <p:cNvSpPr txBox="1"/>
          <p:nvPr/>
        </p:nvSpPr>
        <p:spPr>
          <a:xfrm>
            <a:off x="3941236" y="450013"/>
            <a:ext cx="10214492"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YAPTIĞIMIZ PROJELER </a:t>
            </a:r>
          </a:p>
        </p:txBody>
      </p:sp>
      <p:sp>
        <p:nvSpPr>
          <p:cNvPr id="6" name="TextBox 6"/>
          <p:cNvSpPr txBox="1"/>
          <p:nvPr/>
        </p:nvSpPr>
        <p:spPr>
          <a:xfrm>
            <a:off x="1028700" y="1995571"/>
            <a:ext cx="5825073" cy="513602"/>
          </a:xfrm>
          <a:prstGeom prst="rect">
            <a:avLst/>
          </a:prstGeom>
        </p:spPr>
        <p:txBody>
          <a:bodyPr lIns="0" tIns="0" rIns="0" bIns="0" rtlCol="0" anchor="t">
            <a:spAutoFit/>
          </a:bodyPr>
          <a:lstStyle/>
          <a:p>
            <a:pPr algn="l">
              <a:lnSpc>
                <a:spcPts val="3906"/>
              </a:lnSpc>
            </a:pPr>
            <a:r>
              <a:rPr lang="tr-TR" sz="3600" spc="64" dirty="0">
                <a:solidFill>
                  <a:srgbClr val="000000"/>
                </a:solidFill>
                <a:latin typeface="Poppins Bold"/>
                <a:ea typeface="Poppins Bold"/>
                <a:cs typeface="Poppins Bold"/>
                <a:sym typeface="Poppins Bold"/>
              </a:rPr>
              <a:t>SHADOW</a:t>
            </a:r>
            <a:endParaRPr lang="en-US" sz="2790" spc="64" dirty="0">
              <a:solidFill>
                <a:srgbClr val="000000"/>
              </a:solidFill>
              <a:latin typeface="Poppins Bold"/>
              <a:ea typeface="Poppins Bold"/>
              <a:cs typeface="Poppins Bold"/>
              <a:sym typeface="Poppins Bold"/>
            </a:endParaRPr>
          </a:p>
        </p:txBody>
      </p:sp>
      <p:sp>
        <p:nvSpPr>
          <p:cNvPr id="7" name="TextBox 7"/>
          <p:cNvSpPr txBox="1"/>
          <p:nvPr/>
        </p:nvSpPr>
        <p:spPr>
          <a:xfrm>
            <a:off x="1028700" y="6460457"/>
            <a:ext cx="8115300" cy="3499621"/>
          </a:xfrm>
          <a:prstGeom prst="rect">
            <a:avLst/>
          </a:prstGeom>
        </p:spPr>
        <p:txBody>
          <a:bodyPr lIns="0" tIns="0" rIns="0" bIns="0" rtlCol="0" anchor="t">
            <a:spAutoFit/>
          </a:bodyPr>
          <a:lstStyle/>
          <a:p>
            <a:pPr algn="l">
              <a:lnSpc>
                <a:spcPts val="3457"/>
              </a:lnSpc>
            </a:pPr>
            <a:endParaRPr/>
          </a:p>
          <a:p>
            <a:pPr algn="l">
              <a:lnSpc>
                <a:spcPts val="3457"/>
              </a:lnSpc>
            </a:pPr>
            <a:r>
              <a:rPr lang="en-US" sz="2469" b="1" spc="56">
                <a:solidFill>
                  <a:srgbClr val="000000"/>
                </a:solidFill>
                <a:latin typeface="Barlow Semi-Bold"/>
                <a:ea typeface="Barlow Semi-Bold"/>
                <a:cs typeface="Barlow Semi-Bold"/>
                <a:sym typeface="Barlow Semi-Bold"/>
              </a:rPr>
              <a:t>Teknofest Savaşan İHA Yarışma Uçağı, V kuyruk ve pusher tip itki sistemi sayesinde görüntü işleme çalışmaları için uygundur. Otonom uçuş, iniş ve kalkış kabiliyeti, havadan yere anlık görüntü aktarımı ve otonom olarak rakip hava araçlarını kamera üzerinden tespit etme ve takip edebilme yeteneklerine sahiptir.</a:t>
            </a:r>
          </a:p>
          <a:p>
            <a:pPr algn="l">
              <a:lnSpc>
                <a:spcPts val="3457"/>
              </a:lnSpc>
            </a:pPr>
            <a:endParaRPr lang="en-US" sz="2469" b="1" spc="56">
              <a:solidFill>
                <a:srgbClr val="000000"/>
              </a:solidFill>
              <a:latin typeface="Barlow Semi-Bold"/>
              <a:ea typeface="Barlow Semi-Bold"/>
              <a:cs typeface="Barlow Semi-Bold"/>
              <a:sym typeface="Barlow Semi-Bold"/>
            </a:endParaRPr>
          </a:p>
        </p:txBody>
      </p:sp>
      <p:sp>
        <p:nvSpPr>
          <p:cNvPr id="8" name="TextBox 8"/>
          <p:cNvSpPr txBox="1"/>
          <p:nvPr/>
        </p:nvSpPr>
        <p:spPr>
          <a:xfrm>
            <a:off x="9947167" y="1995571"/>
            <a:ext cx="5825073" cy="513602"/>
          </a:xfrm>
          <a:prstGeom prst="rect">
            <a:avLst/>
          </a:prstGeom>
        </p:spPr>
        <p:txBody>
          <a:bodyPr lIns="0" tIns="0" rIns="0" bIns="0" rtlCol="0" anchor="t">
            <a:spAutoFit/>
          </a:bodyPr>
          <a:lstStyle/>
          <a:p>
            <a:pPr algn="l">
              <a:lnSpc>
                <a:spcPts val="3906"/>
              </a:lnSpc>
            </a:pPr>
            <a:r>
              <a:rPr lang="en-US" sz="3600" spc="64" dirty="0">
                <a:solidFill>
                  <a:srgbClr val="000000"/>
                </a:solidFill>
                <a:latin typeface="Poppins Bold"/>
                <a:ea typeface="Poppins Bold"/>
                <a:cs typeface="Poppins Bold"/>
                <a:sym typeface="Poppins Bold"/>
              </a:rPr>
              <a:t>H</a:t>
            </a:r>
            <a:r>
              <a:rPr lang="tr-TR" sz="3600" spc="64" dirty="0">
                <a:solidFill>
                  <a:srgbClr val="000000"/>
                </a:solidFill>
                <a:latin typeface="Poppins Bold"/>
                <a:ea typeface="Poppins Bold"/>
                <a:cs typeface="Poppins Bold"/>
                <a:sym typeface="Poppins Bold"/>
              </a:rPr>
              <a:t>YDRA</a:t>
            </a:r>
            <a:endParaRPr lang="en-US" sz="2790" spc="64" dirty="0">
              <a:solidFill>
                <a:srgbClr val="000000"/>
              </a:solidFill>
              <a:latin typeface="Poppins Bold"/>
              <a:ea typeface="Poppins Bold"/>
              <a:cs typeface="Poppins Bold"/>
              <a:sym typeface="Poppins Bold"/>
            </a:endParaRPr>
          </a:p>
        </p:txBody>
      </p:sp>
      <p:sp>
        <p:nvSpPr>
          <p:cNvPr id="9" name="TextBox 9"/>
          <p:cNvSpPr txBox="1"/>
          <p:nvPr/>
        </p:nvSpPr>
        <p:spPr>
          <a:xfrm>
            <a:off x="9947167" y="6805576"/>
            <a:ext cx="5825073" cy="174702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Yakıt hücreli insansız hava aracı, PEM yakıt hücresi ile havada enerji üretimini sağlar ve bu sayede 5-7 saat boyunca havada kalma süresine sahiptir.</a:t>
            </a:r>
          </a:p>
        </p:txBody>
      </p:sp>
      <p:sp>
        <p:nvSpPr>
          <p:cNvPr id="10" name="Freeform 10"/>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5"/>
            <a:stretch>
              <a:fillRect/>
            </a:stretch>
          </a:blipFill>
        </p:spPr>
        <p:txBody>
          <a:bodyPr/>
          <a:lstStyle/>
          <a:p>
            <a:endParaRPr lang="tr-T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37298" y="-2209397"/>
            <a:ext cx="23628388" cy="13666467"/>
          </a:xfrm>
          <a:custGeom>
            <a:avLst/>
            <a:gdLst/>
            <a:ahLst/>
            <a:cxnLst/>
            <a:rect l="l" t="t" r="r" b="b"/>
            <a:pathLst>
              <a:path w="23628388" h="13666467">
                <a:moveTo>
                  <a:pt x="0" y="0"/>
                </a:moveTo>
                <a:lnTo>
                  <a:pt x="23628387" y="0"/>
                </a:lnTo>
                <a:lnTo>
                  <a:pt x="23628387" y="13666467"/>
                </a:lnTo>
                <a:lnTo>
                  <a:pt x="0" y="13666467"/>
                </a:lnTo>
                <a:lnTo>
                  <a:pt x="0" y="0"/>
                </a:lnTo>
                <a:close/>
              </a:path>
            </a:pathLst>
          </a:custGeom>
          <a:blipFill>
            <a:blip r:embed="rId2"/>
            <a:stretch>
              <a:fillRect t="-55847" b="-74676"/>
            </a:stretch>
          </a:blipFill>
        </p:spPr>
        <p:txBody>
          <a:bodyPr/>
          <a:lstStyle/>
          <a:p>
            <a:endParaRPr lang="tr-TR" dirty="0"/>
          </a:p>
        </p:txBody>
      </p:sp>
      <p:sp>
        <p:nvSpPr>
          <p:cNvPr id="3" name="Freeform 3"/>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3"/>
            <a:stretch>
              <a:fillRect/>
            </a:stretch>
          </a:blipFill>
        </p:spPr>
        <p:txBody>
          <a:bodyPr/>
          <a:lstStyle/>
          <a:p>
            <a:endParaRPr lang="tr-TR"/>
          </a:p>
        </p:txBody>
      </p:sp>
      <p:sp>
        <p:nvSpPr>
          <p:cNvPr id="4" name="Freeform 4"/>
          <p:cNvSpPr/>
          <p:nvPr/>
        </p:nvSpPr>
        <p:spPr>
          <a:xfrm>
            <a:off x="12586886" y="1881349"/>
            <a:ext cx="5175768" cy="3574443"/>
          </a:xfrm>
          <a:custGeom>
            <a:avLst/>
            <a:gdLst/>
            <a:ahLst/>
            <a:cxnLst/>
            <a:rect l="l" t="t" r="r" b="b"/>
            <a:pathLst>
              <a:path w="5175768" h="3574443">
                <a:moveTo>
                  <a:pt x="0" y="0"/>
                </a:moveTo>
                <a:lnTo>
                  <a:pt x="5175768" y="0"/>
                </a:lnTo>
                <a:lnTo>
                  <a:pt x="5175768" y="3574443"/>
                </a:lnTo>
                <a:lnTo>
                  <a:pt x="0" y="3574443"/>
                </a:lnTo>
                <a:lnTo>
                  <a:pt x="0" y="0"/>
                </a:lnTo>
                <a:close/>
              </a:path>
            </a:pathLst>
          </a:custGeom>
          <a:blipFill>
            <a:blip r:embed="rId4"/>
            <a:stretch>
              <a:fillRect l="-15535" r="-7240"/>
            </a:stretch>
          </a:blipFill>
          <a:ln w="47625" cap="rnd">
            <a:solidFill>
              <a:srgbClr val="000000"/>
            </a:solidFill>
            <a:prstDash val="solid"/>
            <a:round/>
          </a:ln>
        </p:spPr>
        <p:txBody>
          <a:bodyPr/>
          <a:lstStyle/>
          <a:p>
            <a:endParaRPr lang="tr-TR"/>
          </a:p>
        </p:txBody>
      </p:sp>
      <p:sp>
        <p:nvSpPr>
          <p:cNvPr id="5" name="Freeform 5"/>
          <p:cNvSpPr/>
          <p:nvPr/>
        </p:nvSpPr>
        <p:spPr>
          <a:xfrm>
            <a:off x="6652638" y="1881349"/>
            <a:ext cx="5251747" cy="3601773"/>
          </a:xfrm>
          <a:custGeom>
            <a:avLst/>
            <a:gdLst/>
            <a:ahLst/>
            <a:cxnLst/>
            <a:rect l="l" t="t" r="r" b="b"/>
            <a:pathLst>
              <a:path w="5251747" h="3601773">
                <a:moveTo>
                  <a:pt x="0" y="0"/>
                </a:moveTo>
                <a:lnTo>
                  <a:pt x="5251747" y="0"/>
                </a:lnTo>
                <a:lnTo>
                  <a:pt x="5251747" y="3601773"/>
                </a:lnTo>
                <a:lnTo>
                  <a:pt x="0" y="3601773"/>
                </a:lnTo>
                <a:lnTo>
                  <a:pt x="0" y="0"/>
                </a:lnTo>
                <a:close/>
              </a:path>
            </a:pathLst>
          </a:custGeom>
          <a:blipFill>
            <a:blip r:embed="rId5"/>
            <a:stretch>
              <a:fillRect/>
            </a:stretch>
          </a:blipFill>
          <a:ln w="47625" cap="rnd">
            <a:solidFill>
              <a:srgbClr val="000000"/>
            </a:solidFill>
            <a:prstDash val="solid"/>
            <a:round/>
          </a:ln>
        </p:spPr>
        <p:txBody>
          <a:bodyPr/>
          <a:lstStyle/>
          <a:p>
            <a:endParaRPr lang="tr-TR"/>
          </a:p>
        </p:txBody>
      </p:sp>
      <p:sp>
        <p:nvSpPr>
          <p:cNvPr id="6" name="Freeform 6"/>
          <p:cNvSpPr/>
          <p:nvPr/>
        </p:nvSpPr>
        <p:spPr>
          <a:xfrm>
            <a:off x="292896" y="1828911"/>
            <a:ext cx="5677242" cy="3601773"/>
          </a:xfrm>
          <a:custGeom>
            <a:avLst/>
            <a:gdLst/>
            <a:ahLst/>
            <a:cxnLst/>
            <a:rect l="l" t="t" r="r" b="b"/>
            <a:pathLst>
              <a:path w="5677242" h="3601773">
                <a:moveTo>
                  <a:pt x="0" y="0"/>
                </a:moveTo>
                <a:lnTo>
                  <a:pt x="5677241" y="0"/>
                </a:lnTo>
                <a:lnTo>
                  <a:pt x="5677241" y="3601773"/>
                </a:lnTo>
                <a:lnTo>
                  <a:pt x="0" y="3601773"/>
                </a:lnTo>
                <a:lnTo>
                  <a:pt x="0" y="0"/>
                </a:lnTo>
                <a:close/>
              </a:path>
            </a:pathLst>
          </a:custGeom>
          <a:blipFill>
            <a:blip r:embed="rId6"/>
            <a:stretch>
              <a:fillRect l="-2930" r="-2442"/>
            </a:stretch>
          </a:blipFill>
          <a:ln w="47625" cap="rnd">
            <a:solidFill>
              <a:srgbClr val="000000"/>
            </a:solidFill>
            <a:prstDash val="solid"/>
            <a:round/>
          </a:ln>
        </p:spPr>
        <p:txBody>
          <a:bodyPr/>
          <a:lstStyle/>
          <a:p>
            <a:endParaRPr lang="tr-TR"/>
          </a:p>
        </p:txBody>
      </p:sp>
      <p:sp>
        <p:nvSpPr>
          <p:cNvPr id="7" name="TextBox 7"/>
          <p:cNvSpPr txBox="1"/>
          <p:nvPr/>
        </p:nvSpPr>
        <p:spPr>
          <a:xfrm>
            <a:off x="292896" y="5716434"/>
            <a:ext cx="5825073" cy="513602"/>
          </a:xfrm>
          <a:prstGeom prst="rect">
            <a:avLst/>
          </a:prstGeom>
        </p:spPr>
        <p:txBody>
          <a:bodyPr lIns="0" tIns="0" rIns="0" bIns="0" rtlCol="0" anchor="t">
            <a:spAutoFit/>
          </a:bodyPr>
          <a:lstStyle/>
          <a:p>
            <a:pPr algn="l">
              <a:lnSpc>
                <a:spcPts val="3906"/>
              </a:lnSpc>
            </a:pPr>
            <a:r>
              <a:rPr lang="en-US" sz="3600" spc="64" dirty="0">
                <a:solidFill>
                  <a:srgbClr val="000000"/>
                </a:solidFill>
                <a:latin typeface="Poppins Bold"/>
                <a:ea typeface="Poppins Bold"/>
                <a:cs typeface="Poppins Bold"/>
                <a:sym typeface="Poppins Bold"/>
              </a:rPr>
              <a:t>A</a:t>
            </a:r>
            <a:r>
              <a:rPr lang="tr-TR" sz="3600" spc="64" dirty="0">
                <a:solidFill>
                  <a:srgbClr val="000000"/>
                </a:solidFill>
                <a:latin typeface="Poppins Bold"/>
                <a:ea typeface="Poppins Bold"/>
                <a:cs typeface="Poppins Bold"/>
                <a:sym typeface="Poppins Bold"/>
              </a:rPr>
              <a:t>NTEN TAKİP SİSTEMİ</a:t>
            </a:r>
            <a:endParaRPr lang="en-US" sz="3600" spc="64" dirty="0">
              <a:solidFill>
                <a:srgbClr val="000000"/>
              </a:solidFill>
              <a:latin typeface="Poppins Bold"/>
              <a:ea typeface="Poppins Bold"/>
              <a:cs typeface="Poppins Bold"/>
              <a:sym typeface="Poppins Bold"/>
            </a:endParaRPr>
          </a:p>
        </p:txBody>
      </p:sp>
      <p:sp>
        <p:nvSpPr>
          <p:cNvPr id="8" name="TextBox 8"/>
          <p:cNvSpPr txBox="1"/>
          <p:nvPr/>
        </p:nvSpPr>
        <p:spPr>
          <a:xfrm>
            <a:off x="3669650" y="233233"/>
            <a:ext cx="10214492"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YAPTIĞIMIZ PROJELER </a:t>
            </a:r>
          </a:p>
        </p:txBody>
      </p:sp>
      <p:sp>
        <p:nvSpPr>
          <p:cNvPr id="9" name="TextBox 9"/>
          <p:cNvSpPr txBox="1"/>
          <p:nvPr/>
        </p:nvSpPr>
        <p:spPr>
          <a:xfrm>
            <a:off x="7770572" y="5716434"/>
            <a:ext cx="3909385" cy="513602"/>
          </a:xfrm>
          <a:prstGeom prst="rect">
            <a:avLst/>
          </a:prstGeom>
        </p:spPr>
        <p:txBody>
          <a:bodyPr lIns="0" tIns="0" rIns="0" bIns="0" rtlCol="0" anchor="t">
            <a:spAutoFit/>
          </a:bodyPr>
          <a:lstStyle/>
          <a:p>
            <a:pPr algn="l">
              <a:lnSpc>
                <a:spcPts val="3906"/>
              </a:lnSpc>
            </a:pPr>
            <a:r>
              <a:rPr lang="en-US" sz="3600" spc="64" dirty="0">
                <a:solidFill>
                  <a:srgbClr val="000000"/>
                </a:solidFill>
                <a:latin typeface="Poppins Bold"/>
                <a:ea typeface="Poppins Bold"/>
                <a:cs typeface="Poppins Bold"/>
                <a:sym typeface="Poppins Bold"/>
              </a:rPr>
              <a:t>K</a:t>
            </a:r>
            <a:r>
              <a:rPr lang="tr-TR" sz="3600" spc="64" dirty="0">
                <a:solidFill>
                  <a:srgbClr val="000000"/>
                </a:solidFill>
                <a:latin typeface="Poppins Bold"/>
                <a:ea typeface="Poppins Bold"/>
                <a:cs typeface="Poppins Bold"/>
                <a:sym typeface="Poppins Bold"/>
              </a:rPr>
              <a:t>ATAPULT</a:t>
            </a:r>
            <a:r>
              <a:rPr lang="en-US" sz="3600" spc="64" dirty="0">
                <a:solidFill>
                  <a:srgbClr val="000000"/>
                </a:solidFill>
                <a:latin typeface="Poppins Bold"/>
                <a:ea typeface="Poppins Bold"/>
                <a:cs typeface="Poppins Bold"/>
                <a:sym typeface="Poppins Bold"/>
              </a:rPr>
              <a:t> </a:t>
            </a:r>
          </a:p>
        </p:txBody>
      </p:sp>
      <p:sp>
        <p:nvSpPr>
          <p:cNvPr id="10" name="TextBox 10"/>
          <p:cNvSpPr txBox="1"/>
          <p:nvPr/>
        </p:nvSpPr>
        <p:spPr>
          <a:xfrm>
            <a:off x="13340056" y="5716434"/>
            <a:ext cx="5825073" cy="513602"/>
          </a:xfrm>
          <a:prstGeom prst="rect">
            <a:avLst/>
          </a:prstGeom>
        </p:spPr>
        <p:txBody>
          <a:bodyPr lIns="0" tIns="0" rIns="0" bIns="0" rtlCol="0" anchor="t">
            <a:spAutoFit/>
          </a:bodyPr>
          <a:lstStyle/>
          <a:p>
            <a:pPr algn="l">
              <a:lnSpc>
                <a:spcPts val="3906"/>
              </a:lnSpc>
            </a:pPr>
            <a:r>
              <a:rPr lang="en-US" sz="3600" spc="64" dirty="0">
                <a:solidFill>
                  <a:srgbClr val="000000"/>
                </a:solidFill>
                <a:latin typeface="Poppins Bold"/>
                <a:ea typeface="Poppins Bold"/>
                <a:cs typeface="Poppins Bold"/>
                <a:sym typeface="Poppins Bold"/>
              </a:rPr>
              <a:t>Y</a:t>
            </a:r>
            <a:r>
              <a:rPr lang="tr-TR" sz="3600" spc="64" dirty="0">
                <a:solidFill>
                  <a:srgbClr val="000000"/>
                </a:solidFill>
                <a:latin typeface="Poppins Bold"/>
                <a:ea typeface="Poppins Bold"/>
                <a:cs typeface="Poppins Bold"/>
                <a:sym typeface="Poppins Bold"/>
              </a:rPr>
              <a:t>ER İSTASYONU</a:t>
            </a:r>
            <a:r>
              <a:rPr lang="en-US" sz="3600" spc="64" dirty="0">
                <a:solidFill>
                  <a:srgbClr val="000000"/>
                </a:solidFill>
                <a:latin typeface="Poppins Bold"/>
                <a:ea typeface="Poppins Bold"/>
                <a:cs typeface="Poppins Bold"/>
                <a:sym typeface="Poppins Bold"/>
              </a:rPr>
              <a:t> </a:t>
            </a:r>
          </a:p>
        </p:txBody>
      </p:sp>
      <p:sp>
        <p:nvSpPr>
          <p:cNvPr id="11" name="TextBox 11"/>
          <p:cNvSpPr txBox="1"/>
          <p:nvPr/>
        </p:nvSpPr>
        <p:spPr>
          <a:xfrm>
            <a:off x="6813222" y="6483776"/>
            <a:ext cx="4575057" cy="2623312"/>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Katapult veya başka bir deyişle mancınık, uçağın bir geminin güvertesi gibi çok sınırlı miktarda alandan havalanabilmesine imkan sağlayan bir cihazdır. </a:t>
            </a:r>
          </a:p>
        </p:txBody>
      </p:sp>
      <p:sp>
        <p:nvSpPr>
          <p:cNvPr id="12" name="TextBox 12"/>
          <p:cNvSpPr txBox="1"/>
          <p:nvPr/>
        </p:nvSpPr>
        <p:spPr>
          <a:xfrm>
            <a:off x="292896" y="6483768"/>
            <a:ext cx="5825073" cy="262332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Anten takip sistemi, hareketli bir hedefi (örneğin bir uydu, drone ya da uçak) sürekli olarak izleyip, anteni bu hedefe doğru yönlendiren bir sistemdir. Bu sistem, özellikle uydu haberleşme, radar ve telemetri uygulamalarında kullanılır. </a:t>
            </a:r>
          </a:p>
        </p:txBody>
      </p:sp>
      <p:sp>
        <p:nvSpPr>
          <p:cNvPr id="13" name="TextBox 13"/>
          <p:cNvSpPr txBox="1"/>
          <p:nvPr/>
        </p:nvSpPr>
        <p:spPr>
          <a:xfrm>
            <a:off x="12083532" y="6483768"/>
            <a:ext cx="6182476" cy="349962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Yer kontrol istasyonu, uzaktan kumandalı hava araçları (İHA'lar), uydular veya diğer insansız sistemlerin kontrol ve izleme işlemlerinin yapıldığı merkezdir. Bu istasyonlar, araçların konumunu, durumunu, kamera görüntülerini ve diğer sensör verilerini gerçek zamanlı olarak izler ve gerektiğinde komutlar gönderir.</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31838" y="-2129517"/>
            <a:ext cx="23628388" cy="13666467"/>
          </a:xfrm>
          <a:custGeom>
            <a:avLst/>
            <a:gdLst/>
            <a:ahLst/>
            <a:cxnLst/>
            <a:rect l="l" t="t" r="r" b="b"/>
            <a:pathLst>
              <a:path w="23628388" h="13666467">
                <a:moveTo>
                  <a:pt x="0" y="0"/>
                </a:moveTo>
                <a:lnTo>
                  <a:pt x="23628387" y="0"/>
                </a:lnTo>
                <a:lnTo>
                  <a:pt x="23628387" y="13666468"/>
                </a:lnTo>
                <a:lnTo>
                  <a:pt x="0" y="13666468"/>
                </a:lnTo>
                <a:lnTo>
                  <a:pt x="0" y="0"/>
                </a:lnTo>
                <a:close/>
              </a:path>
            </a:pathLst>
          </a:custGeom>
          <a:blipFill>
            <a:blip r:embed="rId2"/>
            <a:stretch>
              <a:fillRect t="-55847" b="-74676"/>
            </a:stretch>
          </a:blipFill>
        </p:spPr>
        <p:txBody>
          <a:bodyPr/>
          <a:lstStyle/>
          <a:p>
            <a:endParaRPr lang="tr-TR"/>
          </a:p>
        </p:txBody>
      </p:sp>
      <p:sp>
        <p:nvSpPr>
          <p:cNvPr id="3" name="Freeform 3"/>
          <p:cNvSpPr/>
          <p:nvPr/>
        </p:nvSpPr>
        <p:spPr>
          <a:xfrm>
            <a:off x="1028700" y="2694589"/>
            <a:ext cx="10111415" cy="4891397"/>
          </a:xfrm>
          <a:custGeom>
            <a:avLst/>
            <a:gdLst/>
            <a:ahLst/>
            <a:cxnLst/>
            <a:rect l="l" t="t" r="r" b="b"/>
            <a:pathLst>
              <a:path w="10111415" h="4891397">
                <a:moveTo>
                  <a:pt x="0" y="0"/>
                </a:moveTo>
                <a:lnTo>
                  <a:pt x="10111415" y="0"/>
                </a:lnTo>
                <a:lnTo>
                  <a:pt x="10111415" y="4891397"/>
                </a:lnTo>
                <a:lnTo>
                  <a:pt x="0" y="4891397"/>
                </a:lnTo>
                <a:lnTo>
                  <a:pt x="0" y="0"/>
                </a:lnTo>
                <a:close/>
              </a:path>
            </a:pathLst>
          </a:custGeom>
          <a:blipFill>
            <a:blip r:embed="rId3"/>
            <a:stretch>
              <a:fillRect/>
            </a:stretch>
          </a:blipFill>
          <a:ln w="47625" cap="rnd">
            <a:solidFill>
              <a:srgbClr val="000000"/>
            </a:solidFill>
            <a:prstDash val="solid"/>
            <a:round/>
          </a:ln>
        </p:spPr>
        <p:txBody>
          <a:bodyPr/>
          <a:lstStyle/>
          <a:p>
            <a:endParaRPr lang="tr-TR"/>
          </a:p>
        </p:txBody>
      </p:sp>
      <p:sp>
        <p:nvSpPr>
          <p:cNvPr id="4" name="Freeform 4"/>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4"/>
            <a:stretch>
              <a:fillRect/>
            </a:stretch>
          </a:blipFill>
        </p:spPr>
        <p:txBody>
          <a:bodyPr/>
          <a:lstStyle/>
          <a:p>
            <a:endParaRPr lang="tr-TR"/>
          </a:p>
        </p:txBody>
      </p:sp>
      <p:sp>
        <p:nvSpPr>
          <p:cNvPr id="5" name="Freeform 5"/>
          <p:cNvSpPr/>
          <p:nvPr/>
        </p:nvSpPr>
        <p:spPr>
          <a:xfrm>
            <a:off x="11980880" y="2694589"/>
            <a:ext cx="5018533" cy="4891397"/>
          </a:xfrm>
          <a:custGeom>
            <a:avLst/>
            <a:gdLst/>
            <a:ahLst/>
            <a:cxnLst/>
            <a:rect l="l" t="t" r="r" b="b"/>
            <a:pathLst>
              <a:path w="5018533" h="4891397">
                <a:moveTo>
                  <a:pt x="0" y="0"/>
                </a:moveTo>
                <a:lnTo>
                  <a:pt x="5018534" y="0"/>
                </a:lnTo>
                <a:lnTo>
                  <a:pt x="5018534" y="4891397"/>
                </a:lnTo>
                <a:lnTo>
                  <a:pt x="0" y="4891397"/>
                </a:lnTo>
                <a:lnTo>
                  <a:pt x="0" y="0"/>
                </a:lnTo>
                <a:close/>
              </a:path>
            </a:pathLst>
          </a:custGeom>
          <a:blipFill>
            <a:blip r:embed="rId5"/>
            <a:stretch>
              <a:fillRect/>
            </a:stretch>
          </a:blipFill>
          <a:ln w="47625" cap="rnd">
            <a:solidFill>
              <a:srgbClr val="000000"/>
            </a:solidFill>
            <a:prstDash val="solid"/>
            <a:round/>
          </a:ln>
        </p:spPr>
        <p:txBody>
          <a:bodyPr/>
          <a:lstStyle/>
          <a:p>
            <a:endParaRPr lang="tr-TR"/>
          </a:p>
        </p:txBody>
      </p:sp>
      <p:sp>
        <p:nvSpPr>
          <p:cNvPr id="6" name="TextBox 6"/>
          <p:cNvSpPr txBox="1"/>
          <p:nvPr/>
        </p:nvSpPr>
        <p:spPr>
          <a:xfrm>
            <a:off x="1028700" y="8024136"/>
            <a:ext cx="15970714" cy="1747012"/>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SAE Aero Design, havacılık mühendisliği öğrencilerinin tasarım, üretim ve test etme yeteneklerini geliştirmeyi amaçlayan uluslararası bir yarışmadır. SAE International tarafından düzenlenen bu yarışma, katılımcıların insansız hava araçları (İHA) tasarlayıp inşa etmelerini teşvik eder. Yarışma, gerçek dünyadaki mühendislik sorunlarına çözüm getirmeyi amaçlayan zorlu görevler içerir.</a:t>
            </a:r>
          </a:p>
        </p:txBody>
      </p:sp>
      <p:sp>
        <p:nvSpPr>
          <p:cNvPr id="7" name="TextBox 7"/>
          <p:cNvSpPr txBox="1"/>
          <p:nvPr/>
        </p:nvSpPr>
        <p:spPr>
          <a:xfrm>
            <a:off x="2928969" y="450013"/>
            <a:ext cx="12430062"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KATILDIĞIMIZ YARIŞMALAR</a:t>
            </a:r>
          </a:p>
        </p:txBody>
      </p:sp>
      <p:sp>
        <p:nvSpPr>
          <p:cNvPr id="8" name="TextBox 8"/>
          <p:cNvSpPr txBox="1"/>
          <p:nvPr/>
        </p:nvSpPr>
        <p:spPr>
          <a:xfrm>
            <a:off x="1188461" y="2008086"/>
            <a:ext cx="5821939" cy="1408078"/>
          </a:xfrm>
          <a:prstGeom prst="rect">
            <a:avLst/>
          </a:prstGeom>
        </p:spPr>
        <p:txBody>
          <a:bodyPr wrap="square" lIns="0" tIns="0" rIns="0" bIns="0" rtlCol="0" anchor="t">
            <a:spAutoFit/>
          </a:bodyPr>
          <a:lstStyle/>
          <a:p>
            <a:pPr algn="l">
              <a:lnSpc>
                <a:spcPts val="3597"/>
              </a:lnSpc>
            </a:pPr>
            <a:r>
              <a:rPr lang="en-US" sz="3600" spc="59" dirty="0">
                <a:solidFill>
                  <a:srgbClr val="000000"/>
                </a:solidFill>
                <a:latin typeface="Poppins Bold"/>
                <a:ea typeface="Poppins Bold"/>
                <a:cs typeface="Poppins Bold"/>
                <a:sym typeface="Poppins Bold"/>
              </a:rPr>
              <a:t>SAE A</a:t>
            </a:r>
            <a:r>
              <a:rPr lang="tr-TR" sz="3600" spc="59" dirty="0">
                <a:solidFill>
                  <a:srgbClr val="000000"/>
                </a:solidFill>
                <a:latin typeface="Poppins Bold"/>
                <a:ea typeface="Poppins Bold"/>
                <a:cs typeface="Poppins Bold"/>
                <a:sym typeface="Poppins Bold"/>
              </a:rPr>
              <a:t>ERO DESIGN</a:t>
            </a:r>
            <a:endParaRPr lang="en-US" sz="3600" spc="59" dirty="0">
              <a:solidFill>
                <a:srgbClr val="000000"/>
              </a:solidFill>
              <a:latin typeface="Poppins Bold"/>
              <a:ea typeface="Poppins Bold"/>
              <a:cs typeface="Poppins Bold"/>
              <a:sym typeface="Poppins Bold"/>
            </a:endParaRPr>
          </a:p>
          <a:p>
            <a:pPr algn="l">
              <a:lnSpc>
                <a:spcPts val="3597"/>
              </a:lnSpc>
            </a:pPr>
            <a:endParaRPr lang="en-US" sz="3600" spc="59" dirty="0">
              <a:solidFill>
                <a:srgbClr val="000000"/>
              </a:solidFill>
              <a:latin typeface="Poppins Bold"/>
              <a:ea typeface="Poppins Bold"/>
              <a:cs typeface="Poppins Bold"/>
              <a:sym typeface="Poppins Bold"/>
            </a:endParaRPr>
          </a:p>
          <a:p>
            <a:pPr algn="l">
              <a:lnSpc>
                <a:spcPts val="3597"/>
              </a:lnSpc>
            </a:pPr>
            <a:endParaRPr lang="en-US" sz="3600" spc="59" dirty="0">
              <a:solidFill>
                <a:srgbClr val="000000"/>
              </a:solidFill>
              <a:latin typeface="Poppins Bold"/>
              <a:ea typeface="Poppins Bold"/>
              <a:cs typeface="Poppins Bold"/>
              <a:sym typeface="Poppins Bold"/>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62585" y="-1689734"/>
            <a:ext cx="24959731" cy="13666467"/>
          </a:xfrm>
          <a:custGeom>
            <a:avLst/>
            <a:gdLst/>
            <a:ahLst/>
            <a:cxnLst/>
            <a:rect l="l" t="t" r="r" b="b"/>
            <a:pathLst>
              <a:path w="24959731" h="13666467">
                <a:moveTo>
                  <a:pt x="0" y="0"/>
                </a:moveTo>
                <a:lnTo>
                  <a:pt x="24959731" y="0"/>
                </a:lnTo>
                <a:lnTo>
                  <a:pt x="24959731" y="13666468"/>
                </a:lnTo>
                <a:lnTo>
                  <a:pt x="0" y="13666468"/>
                </a:lnTo>
                <a:lnTo>
                  <a:pt x="0" y="0"/>
                </a:lnTo>
                <a:close/>
              </a:path>
            </a:pathLst>
          </a:custGeom>
          <a:blipFill>
            <a:blip r:embed="rId2"/>
            <a:stretch>
              <a:fillRect t="-61812" b="-81701"/>
            </a:stretch>
          </a:blipFill>
        </p:spPr>
        <p:txBody>
          <a:bodyPr/>
          <a:lstStyle/>
          <a:p>
            <a:endParaRPr lang="tr-TR"/>
          </a:p>
        </p:txBody>
      </p:sp>
      <p:sp>
        <p:nvSpPr>
          <p:cNvPr id="3" name="Freeform 3"/>
          <p:cNvSpPr/>
          <p:nvPr/>
        </p:nvSpPr>
        <p:spPr>
          <a:xfrm>
            <a:off x="9439255" y="2881972"/>
            <a:ext cx="6853778" cy="4052758"/>
          </a:xfrm>
          <a:custGeom>
            <a:avLst/>
            <a:gdLst/>
            <a:ahLst/>
            <a:cxnLst/>
            <a:rect l="l" t="t" r="r" b="b"/>
            <a:pathLst>
              <a:path w="6853778" h="4052758">
                <a:moveTo>
                  <a:pt x="0" y="0"/>
                </a:moveTo>
                <a:lnTo>
                  <a:pt x="6853778" y="0"/>
                </a:lnTo>
                <a:lnTo>
                  <a:pt x="6853778" y="4052758"/>
                </a:lnTo>
                <a:lnTo>
                  <a:pt x="0" y="4052758"/>
                </a:lnTo>
                <a:lnTo>
                  <a:pt x="0" y="0"/>
                </a:lnTo>
                <a:close/>
              </a:path>
            </a:pathLst>
          </a:custGeom>
          <a:blipFill>
            <a:blip r:embed="rId3"/>
            <a:stretch>
              <a:fillRect/>
            </a:stretch>
          </a:blipFill>
          <a:ln w="47625" cap="rnd">
            <a:solidFill>
              <a:srgbClr val="000000"/>
            </a:solidFill>
            <a:prstDash val="solid"/>
            <a:round/>
          </a:ln>
        </p:spPr>
        <p:txBody>
          <a:bodyPr/>
          <a:lstStyle/>
          <a:p>
            <a:endParaRPr lang="tr-TR"/>
          </a:p>
        </p:txBody>
      </p:sp>
      <p:sp>
        <p:nvSpPr>
          <p:cNvPr id="4" name="Freeform 4"/>
          <p:cNvSpPr/>
          <p:nvPr/>
        </p:nvSpPr>
        <p:spPr>
          <a:xfrm>
            <a:off x="901528" y="2881972"/>
            <a:ext cx="6853778" cy="4052758"/>
          </a:xfrm>
          <a:custGeom>
            <a:avLst/>
            <a:gdLst/>
            <a:ahLst/>
            <a:cxnLst/>
            <a:rect l="l" t="t" r="r" b="b"/>
            <a:pathLst>
              <a:path w="6853778" h="4052758">
                <a:moveTo>
                  <a:pt x="0" y="0"/>
                </a:moveTo>
                <a:lnTo>
                  <a:pt x="6853778" y="0"/>
                </a:lnTo>
                <a:lnTo>
                  <a:pt x="6853778" y="4052758"/>
                </a:lnTo>
                <a:lnTo>
                  <a:pt x="0" y="4052758"/>
                </a:lnTo>
                <a:lnTo>
                  <a:pt x="0" y="0"/>
                </a:lnTo>
                <a:close/>
              </a:path>
            </a:pathLst>
          </a:custGeom>
          <a:blipFill>
            <a:blip r:embed="rId4"/>
            <a:stretch>
              <a:fillRect l="-1045" t="-522" b="-522"/>
            </a:stretch>
          </a:blipFill>
          <a:ln w="47625" cap="rnd">
            <a:solidFill>
              <a:srgbClr val="000000"/>
            </a:solidFill>
            <a:prstDash val="solid"/>
            <a:round/>
          </a:ln>
        </p:spPr>
        <p:txBody>
          <a:bodyPr/>
          <a:lstStyle/>
          <a:p>
            <a:endParaRPr lang="tr-TR"/>
          </a:p>
        </p:txBody>
      </p:sp>
      <p:sp>
        <p:nvSpPr>
          <p:cNvPr id="5" name="TextBox 5"/>
          <p:cNvSpPr txBox="1"/>
          <p:nvPr/>
        </p:nvSpPr>
        <p:spPr>
          <a:xfrm>
            <a:off x="1028700" y="1756616"/>
            <a:ext cx="5825073" cy="923330"/>
          </a:xfrm>
          <a:prstGeom prst="rect">
            <a:avLst/>
          </a:prstGeom>
        </p:spPr>
        <p:txBody>
          <a:bodyPr lIns="0" tIns="0" rIns="0" bIns="0" rtlCol="0" anchor="t">
            <a:spAutoFit/>
          </a:bodyPr>
          <a:lstStyle/>
          <a:p>
            <a:pPr algn="l">
              <a:lnSpc>
                <a:spcPts val="3597"/>
              </a:lnSpc>
            </a:pPr>
            <a:r>
              <a:rPr lang="en-US" sz="3200" spc="59" dirty="0">
                <a:solidFill>
                  <a:srgbClr val="000000"/>
                </a:solidFill>
                <a:latin typeface="Poppins Bold"/>
                <a:ea typeface="Poppins Bold"/>
                <a:cs typeface="Poppins Bold"/>
                <a:sym typeface="Poppins Bold"/>
              </a:rPr>
              <a:t>U</a:t>
            </a:r>
            <a:r>
              <a:rPr lang="tr-TR" sz="3200" spc="59" dirty="0">
                <a:solidFill>
                  <a:srgbClr val="000000"/>
                </a:solidFill>
                <a:latin typeface="Poppins Bold"/>
                <a:ea typeface="Poppins Bold"/>
                <a:cs typeface="Poppins Bold"/>
                <a:sym typeface="Poppins Bold"/>
              </a:rPr>
              <a:t>LUSLARARASI İHA YARIŞMASI</a:t>
            </a:r>
            <a:r>
              <a:rPr lang="en-US" sz="3200" spc="59" dirty="0">
                <a:solidFill>
                  <a:srgbClr val="000000"/>
                </a:solidFill>
                <a:latin typeface="Poppins Bold"/>
                <a:ea typeface="Poppins Bold"/>
                <a:cs typeface="Poppins Bold"/>
                <a:sym typeface="Poppins Bold"/>
              </a:rPr>
              <a:t> (</a:t>
            </a:r>
            <a:r>
              <a:rPr lang="en-US" sz="3200" spc="59" dirty="0" err="1">
                <a:solidFill>
                  <a:srgbClr val="000000"/>
                </a:solidFill>
                <a:latin typeface="Poppins Bold"/>
                <a:ea typeface="Poppins Bold"/>
                <a:cs typeface="Poppins Bold"/>
                <a:sym typeface="Poppins Bold"/>
              </a:rPr>
              <a:t>Sabit</a:t>
            </a:r>
            <a:r>
              <a:rPr lang="en-US" sz="3200" spc="59" dirty="0">
                <a:solidFill>
                  <a:srgbClr val="000000"/>
                </a:solidFill>
                <a:latin typeface="Poppins Bold"/>
                <a:ea typeface="Poppins Bold"/>
                <a:cs typeface="Poppins Bold"/>
                <a:sym typeface="Poppins Bold"/>
              </a:rPr>
              <a:t> Kanat)</a:t>
            </a:r>
          </a:p>
        </p:txBody>
      </p:sp>
      <p:sp>
        <p:nvSpPr>
          <p:cNvPr id="6" name="TextBox 6"/>
          <p:cNvSpPr txBox="1"/>
          <p:nvPr/>
        </p:nvSpPr>
        <p:spPr>
          <a:xfrm>
            <a:off x="2967917" y="450013"/>
            <a:ext cx="12296410"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KATILDIĞIMIZ YARIŞMALAR</a:t>
            </a:r>
          </a:p>
        </p:txBody>
      </p:sp>
      <p:sp>
        <p:nvSpPr>
          <p:cNvPr id="7" name="TextBox 7"/>
          <p:cNvSpPr txBox="1"/>
          <p:nvPr/>
        </p:nvSpPr>
        <p:spPr>
          <a:xfrm>
            <a:off x="9625643" y="1756616"/>
            <a:ext cx="5825073" cy="923330"/>
          </a:xfrm>
          <a:prstGeom prst="rect">
            <a:avLst/>
          </a:prstGeom>
        </p:spPr>
        <p:txBody>
          <a:bodyPr lIns="0" tIns="0" rIns="0" bIns="0" rtlCol="0" anchor="t">
            <a:spAutoFit/>
          </a:bodyPr>
          <a:lstStyle/>
          <a:p>
            <a:pPr algn="l">
              <a:lnSpc>
                <a:spcPts val="3597"/>
              </a:lnSpc>
            </a:pPr>
            <a:r>
              <a:rPr lang="en-US" sz="3200" spc="59" dirty="0">
                <a:solidFill>
                  <a:srgbClr val="000000"/>
                </a:solidFill>
                <a:latin typeface="Poppins Bold"/>
                <a:ea typeface="Poppins Bold"/>
                <a:cs typeface="Poppins Bold"/>
                <a:sym typeface="Poppins Bold"/>
              </a:rPr>
              <a:t>U</a:t>
            </a:r>
            <a:r>
              <a:rPr lang="tr-TR" sz="3200" spc="59" dirty="0">
                <a:solidFill>
                  <a:srgbClr val="000000"/>
                </a:solidFill>
                <a:latin typeface="Poppins Bold"/>
                <a:ea typeface="Poppins Bold"/>
                <a:cs typeface="Poppins Bold"/>
                <a:sym typeface="Poppins Bold"/>
              </a:rPr>
              <a:t>LUSLARARASI İHA YARIŞMASI</a:t>
            </a:r>
            <a:r>
              <a:rPr lang="en-US" sz="3200" spc="59" dirty="0">
                <a:solidFill>
                  <a:srgbClr val="000000"/>
                </a:solidFill>
                <a:latin typeface="Poppins Bold"/>
                <a:ea typeface="Poppins Bold"/>
                <a:cs typeface="Poppins Bold"/>
                <a:sym typeface="Poppins Bold"/>
              </a:rPr>
              <a:t> (Döner Kanat)</a:t>
            </a:r>
          </a:p>
        </p:txBody>
      </p:sp>
      <p:sp>
        <p:nvSpPr>
          <p:cNvPr id="8" name="TextBox 8"/>
          <p:cNvSpPr txBox="1"/>
          <p:nvPr/>
        </p:nvSpPr>
        <p:spPr>
          <a:xfrm>
            <a:off x="901528" y="7433317"/>
            <a:ext cx="16286355" cy="218517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Yarışmanın amacı, "Serbest Görev" anlayışıyla öğrencileri İnsansız Hava Araçları (İHA) teknolojilerine yönlendirerek bilimsel ve teknolojik uçuşlara teşvik etmektir. Eski Akademik Danışmanımız Öğr. Gör. Dr. Emre Özbek'in tasarladığı "DORJE" İHA'sı, sabit kanat kategorisinde görüntü işleme yöntemiyle otonom top atma görevini gerçekleştirmek üzere tasarlanmıştır. Ayrıca "ACE" İHA'sı döner kanat kategorisinde tasarlanmış olu, otonom su boşaltma görevini gerçekleştirmektedir. </a:t>
            </a:r>
          </a:p>
        </p:txBody>
      </p:sp>
      <p:sp>
        <p:nvSpPr>
          <p:cNvPr id="9" name="Freeform 9"/>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5"/>
            <a:stretch>
              <a:fillRect/>
            </a:stretch>
          </a:blipFill>
        </p:spPr>
        <p:txBody>
          <a:bodyPr/>
          <a:lstStyle/>
          <a:p>
            <a:endParaRPr lang="tr-T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31838" y="-2129517"/>
            <a:ext cx="23628388" cy="13666467"/>
          </a:xfrm>
          <a:custGeom>
            <a:avLst/>
            <a:gdLst/>
            <a:ahLst/>
            <a:cxnLst/>
            <a:rect l="l" t="t" r="r" b="b"/>
            <a:pathLst>
              <a:path w="23628388" h="13666467">
                <a:moveTo>
                  <a:pt x="0" y="0"/>
                </a:moveTo>
                <a:lnTo>
                  <a:pt x="23628387" y="0"/>
                </a:lnTo>
                <a:lnTo>
                  <a:pt x="23628387" y="13666468"/>
                </a:lnTo>
                <a:lnTo>
                  <a:pt x="0" y="13666468"/>
                </a:lnTo>
                <a:lnTo>
                  <a:pt x="0" y="0"/>
                </a:lnTo>
                <a:close/>
              </a:path>
            </a:pathLst>
          </a:custGeom>
          <a:blipFill>
            <a:blip r:embed="rId2"/>
            <a:stretch>
              <a:fillRect t="-55847" b="-74676"/>
            </a:stretch>
          </a:blipFill>
        </p:spPr>
        <p:txBody>
          <a:bodyPr/>
          <a:lstStyle/>
          <a:p>
            <a:endParaRPr lang="tr-TR"/>
          </a:p>
        </p:txBody>
      </p:sp>
      <p:sp>
        <p:nvSpPr>
          <p:cNvPr id="3" name="Freeform 3"/>
          <p:cNvSpPr/>
          <p:nvPr/>
        </p:nvSpPr>
        <p:spPr>
          <a:xfrm>
            <a:off x="1028700" y="2746676"/>
            <a:ext cx="8115300" cy="5474267"/>
          </a:xfrm>
          <a:custGeom>
            <a:avLst/>
            <a:gdLst/>
            <a:ahLst/>
            <a:cxnLst/>
            <a:rect l="l" t="t" r="r" b="b"/>
            <a:pathLst>
              <a:path w="8115300" h="5474267">
                <a:moveTo>
                  <a:pt x="0" y="0"/>
                </a:moveTo>
                <a:lnTo>
                  <a:pt x="8115300" y="0"/>
                </a:lnTo>
                <a:lnTo>
                  <a:pt x="8115300" y="5474267"/>
                </a:lnTo>
                <a:lnTo>
                  <a:pt x="0" y="5474267"/>
                </a:lnTo>
                <a:lnTo>
                  <a:pt x="0" y="0"/>
                </a:lnTo>
                <a:close/>
              </a:path>
            </a:pathLst>
          </a:custGeom>
          <a:blipFill>
            <a:blip r:embed="rId3"/>
            <a:stretch>
              <a:fillRect r="-5727"/>
            </a:stretch>
          </a:blipFill>
          <a:ln w="47625" cap="rnd">
            <a:solidFill>
              <a:srgbClr val="000000"/>
            </a:solidFill>
            <a:prstDash val="solid"/>
            <a:round/>
          </a:ln>
        </p:spPr>
        <p:txBody>
          <a:bodyPr/>
          <a:lstStyle/>
          <a:p>
            <a:endParaRPr lang="tr-TR"/>
          </a:p>
        </p:txBody>
      </p:sp>
      <p:sp>
        <p:nvSpPr>
          <p:cNvPr id="4" name="TextBox 4"/>
          <p:cNvSpPr txBox="1"/>
          <p:nvPr/>
        </p:nvSpPr>
        <p:spPr>
          <a:xfrm>
            <a:off x="1188461" y="1906014"/>
            <a:ext cx="5825073" cy="500137"/>
          </a:xfrm>
          <a:prstGeom prst="rect">
            <a:avLst/>
          </a:prstGeom>
        </p:spPr>
        <p:txBody>
          <a:bodyPr lIns="0" tIns="0" rIns="0" bIns="0" rtlCol="0" anchor="t">
            <a:spAutoFit/>
          </a:bodyPr>
          <a:lstStyle/>
          <a:p>
            <a:pPr algn="l">
              <a:lnSpc>
                <a:spcPts val="3597"/>
              </a:lnSpc>
            </a:pPr>
            <a:r>
              <a:rPr lang="en-US" sz="3600" spc="59" dirty="0">
                <a:solidFill>
                  <a:srgbClr val="000000"/>
                </a:solidFill>
                <a:latin typeface="Poppins Bold"/>
                <a:ea typeface="Poppins Bold"/>
                <a:cs typeface="Poppins Bold"/>
                <a:sym typeface="Poppins Bold"/>
              </a:rPr>
              <a:t>S</a:t>
            </a:r>
            <a:r>
              <a:rPr lang="tr-TR" sz="3600" spc="59" dirty="0">
                <a:solidFill>
                  <a:srgbClr val="000000"/>
                </a:solidFill>
                <a:latin typeface="Poppins Bold"/>
                <a:ea typeface="Poppins Bold"/>
                <a:cs typeface="Poppins Bold"/>
                <a:sym typeface="Poppins Bold"/>
              </a:rPr>
              <a:t>ÜRÜ İHA YARIŞMASI</a:t>
            </a:r>
            <a:endParaRPr lang="en-US" sz="3600" spc="59" dirty="0">
              <a:solidFill>
                <a:srgbClr val="000000"/>
              </a:solidFill>
              <a:latin typeface="Poppins Bold"/>
              <a:ea typeface="Poppins Bold"/>
              <a:cs typeface="Poppins Bold"/>
              <a:sym typeface="Poppins Bold"/>
            </a:endParaRPr>
          </a:p>
        </p:txBody>
      </p:sp>
      <p:sp>
        <p:nvSpPr>
          <p:cNvPr id="5" name="TextBox 5"/>
          <p:cNvSpPr txBox="1"/>
          <p:nvPr/>
        </p:nvSpPr>
        <p:spPr>
          <a:xfrm>
            <a:off x="2875333" y="433258"/>
            <a:ext cx="12537334" cy="1109748"/>
          </a:xfrm>
          <a:prstGeom prst="rect">
            <a:avLst/>
          </a:prstGeom>
        </p:spPr>
        <p:txBody>
          <a:bodyPr lIns="0" tIns="0" rIns="0" bIns="0" rtlCol="0" anchor="t">
            <a:spAutoFit/>
          </a:bodyPr>
          <a:lstStyle/>
          <a:p>
            <a:pPr algn="l">
              <a:lnSpc>
                <a:spcPts val="8989"/>
              </a:lnSpc>
            </a:pPr>
            <a:r>
              <a:rPr lang="en-US" sz="7022" spc="-14">
                <a:solidFill>
                  <a:srgbClr val="000000"/>
                </a:solidFill>
                <a:latin typeface="Poppins Bold"/>
                <a:ea typeface="Poppins Bold"/>
                <a:cs typeface="Poppins Bold"/>
                <a:sym typeface="Poppins Bold"/>
              </a:rPr>
              <a:t>KATILDIĞIMIZ YARIŞMALAR</a:t>
            </a:r>
          </a:p>
        </p:txBody>
      </p:sp>
      <p:sp>
        <p:nvSpPr>
          <p:cNvPr id="6" name="TextBox 6"/>
          <p:cNvSpPr txBox="1"/>
          <p:nvPr/>
        </p:nvSpPr>
        <p:spPr>
          <a:xfrm>
            <a:off x="9957359" y="2689526"/>
            <a:ext cx="7493476" cy="525222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Sürü İHA Yarışması, sürü halinde görevleri yerine getirebilen İHA'lar için yazılım ve algoritmalar geliştirmeyi amaçlamaktadır. Bu algoritmaların başarıları, gerçek dünya koşullarında gösterilecektir. ürü İHA'lar, günlük yaşantımızı ve savunma stratejilerimizi köklü bir şekilde değiştirme potansiyeline sahip olduğundan, bu yarışma bu teknolojinin gelişimine katkıda bulunmayı hedeflemektedir. HAVELSAN tarafından sağlanan senaryolarla kodun çalışması gözlemlenmiş ve yarışma sırasında gerekli geliştirmeler yapılmıştır.</a:t>
            </a:r>
          </a:p>
        </p:txBody>
      </p:sp>
      <p:sp>
        <p:nvSpPr>
          <p:cNvPr id="7" name="Freeform 7"/>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4"/>
            <a:stretch>
              <a:fillRect/>
            </a:stretch>
          </a:blipFill>
        </p:spPr>
        <p:txBody>
          <a:bodyPr/>
          <a:lstStyle/>
          <a:p>
            <a:endParaRPr lang="tr-T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77642" y="-931307"/>
            <a:ext cx="25465642" cy="13666467"/>
          </a:xfrm>
          <a:custGeom>
            <a:avLst/>
            <a:gdLst/>
            <a:ahLst/>
            <a:cxnLst/>
            <a:rect l="l" t="t" r="r" b="b"/>
            <a:pathLst>
              <a:path w="25465642" h="13666467">
                <a:moveTo>
                  <a:pt x="0" y="0"/>
                </a:moveTo>
                <a:lnTo>
                  <a:pt x="25465642" y="0"/>
                </a:lnTo>
                <a:lnTo>
                  <a:pt x="25465642" y="13666467"/>
                </a:lnTo>
                <a:lnTo>
                  <a:pt x="0" y="13666467"/>
                </a:lnTo>
                <a:lnTo>
                  <a:pt x="0" y="0"/>
                </a:lnTo>
                <a:close/>
              </a:path>
            </a:pathLst>
          </a:custGeom>
          <a:blipFill>
            <a:blip r:embed="rId2"/>
            <a:stretch>
              <a:fillRect t="-64078" b="-84370"/>
            </a:stretch>
          </a:blipFill>
        </p:spPr>
        <p:txBody>
          <a:bodyPr/>
          <a:lstStyle/>
          <a:p>
            <a:endParaRPr lang="tr-TR"/>
          </a:p>
        </p:txBody>
      </p:sp>
      <p:sp>
        <p:nvSpPr>
          <p:cNvPr id="3" name="Freeform 3"/>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3"/>
            <a:stretch>
              <a:fillRect/>
            </a:stretch>
          </a:blipFill>
        </p:spPr>
        <p:txBody>
          <a:bodyPr/>
          <a:lstStyle/>
          <a:p>
            <a:endParaRPr lang="tr-TR"/>
          </a:p>
        </p:txBody>
      </p:sp>
      <p:sp>
        <p:nvSpPr>
          <p:cNvPr id="4" name="Freeform 4"/>
          <p:cNvSpPr/>
          <p:nvPr/>
        </p:nvSpPr>
        <p:spPr>
          <a:xfrm>
            <a:off x="2056216" y="2092653"/>
            <a:ext cx="5825073" cy="5400552"/>
          </a:xfrm>
          <a:custGeom>
            <a:avLst/>
            <a:gdLst/>
            <a:ahLst/>
            <a:cxnLst/>
            <a:rect l="l" t="t" r="r" b="b"/>
            <a:pathLst>
              <a:path w="5825073" h="5400552">
                <a:moveTo>
                  <a:pt x="0" y="0"/>
                </a:moveTo>
                <a:lnTo>
                  <a:pt x="5825072" y="0"/>
                </a:lnTo>
                <a:lnTo>
                  <a:pt x="5825072" y="5400552"/>
                </a:lnTo>
                <a:lnTo>
                  <a:pt x="0" y="5400552"/>
                </a:lnTo>
                <a:lnTo>
                  <a:pt x="0" y="0"/>
                </a:lnTo>
                <a:close/>
              </a:path>
            </a:pathLst>
          </a:custGeom>
          <a:blipFill>
            <a:blip r:embed="rId4"/>
            <a:stretch>
              <a:fillRect t="-38124" b="-5690"/>
            </a:stretch>
          </a:blipFill>
          <a:ln w="47625" cap="rnd">
            <a:solidFill>
              <a:srgbClr val="000000"/>
            </a:solidFill>
            <a:prstDash val="solid"/>
            <a:round/>
          </a:ln>
        </p:spPr>
        <p:txBody>
          <a:bodyPr/>
          <a:lstStyle/>
          <a:p>
            <a:endParaRPr lang="tr-TR"/>
          </a:p>
        </p:txBody>
      </p:sp>
      <p:sp>
        <p:nvSpPr>
          <p:cNvPr id="5" name="Freeform 5"/>
          <p:cNvSpPr/>
          <p:nvPr/>
        </p:nvSpPr>
        <p:spPr>
          <a:xfrm>
            <a:off x="9143999" y="2115763"/>
            <a:ext cx="6681301" cy="5400552"/>
          </a:xfrm>
          <a:custGeom>
            <a:avLst/>
            <a:gdLst/>
            <a:ahLst/>
            <a:cxnLst/>
            <a:rect l="l" t="t" r="r" b="b"/>
            <a:pathLst>
              <a:path w="6681301" h="5400552">
                <a:moveTo>
                  <a:pt x="0" y="0"/>
                </a:moveTo>
                <a:lnTo>
                  <a:pt x="6681301" y="0"/>
                </a:lnTo>
                <a:lnTo>
                  <a:pt x="6681301" y="5400552"/>
                </a:lnTo>
                <a:lnTo>
                  <a:pt x="0" y="5400552"/>
                </a:lnTo>
                <a:lnTo>
                  <a:pt x="0" y="0"/>
                </a:lnTo>
                <a:close/>
              </a:path>
            </a:pathLst>
          </a:custGeom>
          <a:blipFill>
            <a:blip r:embed="rId5"/>
            <a:stretch>
              <a:fillRect t="-12003"/>
            </a:stretch>
          </a:blipFill>
          <a:ln w="47625" cap="rnd">
            <a:solidFill>
              <a:srgbClr val="000000"/>
            </a:solidFill>
            <a:prstDash val="solid"/>
            <a:round/>
          </a:ln>
        </p:spPr>
        <p:txBody>
          <a:bodyPr/>
          <a:lstStyle/>
          <a:p>
            <a:endParaRPr lang="tr-TR"/>
          </a:p>
        </p:txBody>
      </p:sp>
      <p:sp>
        <p:nvSpPr>
          <p:cNvPr id="6" name="TextBox 6"/>
          <p:cNvSpPr txBox="1"/>
          <p:nvPr/>
        </p:nvSpPr>
        <p:spPr>
          <a:xfrm>
            <a:off x="1542441" y="1603238"/>
            <a:ext cx="7982559" cy="484748"/>
          </a:xfrm>
          <a:prstGeom prst="rect">
            <a:avLst/>
          </a:prstGeom>
        </p:spPr>
        <p:txBody>
          <a:bodyPr wrap="square" lIns="0" tIns="0" rIns="0" bIns="0" rtlCol="0" anchor="t">
            <a:spAutoFit/>
          </a:bodyPr>
          <a:lstStyle/>
          <a:p>
            <a:pPr algn="l">
              <a:lnSpc>
                <a:spcPts val="3597"/>
              </a:lnSpc>
            </a:pPr>
            <a:r>
              <a:rPr lang="en-US" sz="3600" spc="59" dirty="0">
                <a:solidFill>
                  <a:srgbClr val="000000"/>
                </a:solidFill>
                <a:latin typeface="Poppins Bold"/>
                <a:ea typeface="Poppins Bold"/>
                <a:cs typeface="Poppins Bold"/>
                <a:sym typeface="Poppins Bold"/>
              </a:rPr>
              <a:t>S</a:t>
            </a:r>
            <a:r>
              <a:rPr lang="tr-TR" sz="3600" spc="59" dirty="0">
                <a:solidFill>
                  <a:srgbClr val="000000"/>
                </a:solidFill>
                <a:latin typeface="Poppins Bold"/>
                <a:ea typeface="Poppins Bold"/>
                <a:cs typeface="Poppins Bold"/>
                <a:sym typeface="Poppins Bold"/>
              </a:rPr>
              <a:t>AVAŞAN İHA YARIŞMASI</a:t>
            </a:r>
            <a:endParaRPr lang="en-US" sz="3600" spc="59" dirty="0">
              <a:solidFill>
                <a:srgbClr val="000000"/>
              </a:solidFill>
              <a:latin typeface="Poppins Bold"/>
              <a:ea typeface="Poppins Bold"/>
              <a:cs typeface="Poppins Bold"/>
              <a:sym typeface="Poppins Bold"/>
            </a:endParaRPr>
          </a:p>
        </p:txBody>
      </p:sp>
      <p:sp>
        <p:nvSpPr>
          <p:cNvPr id="7" name="TextBox 7"/>
          <p:cNvSpPr txBox="1"/>
          <p:nvPr/>
        </p:nvSpPr>
        <p:spPr>
          <a:xfrm>
            <a:off x="2918242" y="278378"/>
            <a:ext cx="12451516" cy="1109748"/>
          </a:xfrm>
          <a:prstGeom prst="rect">
            <a:avLst/>
          </a:prstGeom>
        </p:spPr>
        <p:txBody>
          <a:bodyPr lIns="0" tIns="0" rIns="0" bIns="0" rtlCol="0" anchor="t">
            <a:spAutoFit/>
          </a:bodyPr>
          <a:lstStyle/>
          <a:p>
            <a:pPr algn="l">
              <a:lnSpc>
                <a:spcPts val="8989"/>
              </a:lnSpc>
            </a:pPr>
            <a:r>
              <a:rPr lang="en-US" sz="7022" spc="-14" dirty="0">
                <a:solidFill>
                  <a:srgbClr val="000000"/>
                </a:solidFill>
                <a:latin typeface="Poppins Bold"/>
                <a:ea typeface="Poppins Bold"/>
                <a:cs typeface="Poppins Bold"/>
                <a:sym typeface="Poppins Bold"/>
              </a:rPr>
              <a:t>KATILDIĞIMIZ YARIŞMALAR</a:t>
            </a:r>
          </a:p>
        </p:txBody>
      </p:sp>
      <p:sp>
        <p:nvSpPr>
          <p:cNvPr id="8" name="TextBox 8"/>
          <p:cNvSpPr txBox="1"/>
          <p:nvPr/>
        </p:nvSpPr>
        <p:spPr>
          <a:xfrm>
            <a:off x="1206197" y="7698990"/>
            <a:ext cx="15875605" cy="3061471"/>
          </a:xfrm>
          <a:prstGeom prst="rect">
            <a:avLst/>
          </a:prstGeom>
        </p:spPr>
        <p:txBody>
          <a:bodyPr lIns="0" tIns="0" rIns="0" bIns="0" rtlCol="0" anchor="t">
            <a:spAutoFit/>
          </a:bodyPr>
          <a:lstStyle/>
          <a:p>
            <a:pPr algn="l">
              <a:lnSpc>
                <a:spcPts val="3457"/>
              </a:lnSpc>
            </a:pPr>
            <a:r>
              <a:rPr lang="en-US" sz="2469" b="1" spc="56">
                <a:solidFill>
                  <a:srgbClr val="000000"/>
                </a:solidFill>
                <a:latin typeface="Barlow Semi-Bold"/>
                <a:ea typeface="Barlow Semi-Bold"/>
                <a:cs typeface="Barlow Semi-Bold"/>
                <a:sym typeface="Barlow Semi-Bold"/>
              </a:rPr>
              <a:t>Savaşan İHA yarışmasının temel amacı, hava-hava muharebe senaryosunu kontrollü bir ortamda oluşturarak gençleri bu alana yönlendirmek ve becerilerini geliştirmektir. Ekibimiz, "GÖLGE" İHA'sının rakiplere otonom kitlenme ve takip yeteneği kazanması için hızlı ve ani manevralar yapabilmesi gerektiğinin bilincindeydi ve bu kriterler göz önünde bulundurularak uçağın tasarımı eski akademik danışmanımız Öğr. Gör. Dr. Emre Özbek tarafından gerçekleştirilmiştir.</a:t>
            </a:r>
          </a:p>
          <a:p>
            <a:pPr algn="l">
              <a:lnSpc>
                <a:spcPts val="3457"/>
              </a:lnSpc>
            </a:pPr>
            <a:endParaRPr lang="en-US" sz="2469" b="1" spc="56">
              <a:solidFill>
                <a:srgbClr val="000000"/>
              </a:solidFill>
              <a:latin typeface="Barlow Semi-Bold"/>
              <a:ea typeface="Barlow Semi-Bold"/>
              <a:cs typeface="Barlow Semi-Bold"/>
              <a:sym typeface="Barlow Semi-Bold"/>
            </a:endParaRPr>
          </a:p>
          <a:p>
            <a:pPr algn="l">
              <a:lnSpc>
                <a:spcPts val="3457"/>
              </a:lnSpc>
            </a:pPr>
            <a:endParaRPr lang="en-US" sz="2469" b="1" spc="56">
              <a:solidFill>
                <a:srgbClr val="000000"/>
              </a:solidFill>
              <a:latin typeface="Barlow Semi-Bold"/>
              <a:ea typeface="Barlow Semi-Bold"/>
              <a:cs typeface="Barlow Semi-Bold"/>
              <a:sym typeface="Barlow Semi-Bold"/>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97520" y="-2327172"/>
            <a:ext cx="22604951" cy="12614172"/>
          </a:xfrm>
          <a:custGeom>
            <a:avLst/>
            <a:gdLst/>
            <a:ahLst/>
            <a:cxnLst/>
            <a:rect l="l" t="t" r="r" b="b"/>
            <a:pathLst>
              <a:path w="22604951" h="12614172">
                <a:moveTo>
                  <a:pt x="0" y="0"/>
                </a:moveTo>
                <a:lnTo>
                  <a:pt x="22604950" y="0"/>
                </a:lnTo>
                <a:lnTo>
                  <a:pt x="22604950" y="12614172"/>
                </a:lnTo>
                <a:lnTo>
                  <a:pt x="0" y="12614172"/>
                </a:lnTo>
                <a:lnTo>
                  <a:pt x="0" y="0"/>
                </a:lnTo>
                <a:close/>
              </a:path>
            </a:pathLst>
          </a:custGeom>
          <a:blipFill>
            <a:blip r:embed="rId2"/>
            <a:stretch>
              <a:fillRect t="-61030" r="-5022" b="-89907"/>
            </a:stretch>
          </a:blipFill>
        </p:spPr>
        <p:txBody>
          <a:bodyPr/>
          <a:lstStyle/>
          <a:p>
            <a:endParaRPr lang="tr-TR"/>
          </a:p>
        </p:txBody>
      </p:sp>
      <p:grpSp>
        <p:nvGrpSpPr>
          <p:cNvPr id="3" name="Group 3"/>
          <p:cNvGrpSpPr/>
          <p:nvPr/>
        </p:nvGrpSpPr>
        <p:grpSpPr>
          <a:xfrm>
            <a:off x="1183999" y="1904902"/>
            <a:ext cx="3060948" cy="306094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grpSp>
        <p:nvGrpSpPr>
          <p:cNvPr id="6" name="Group 6"/>
          <p:cNvGrpSpPr/>
          <p:nvPr/>
        </p:nvGrpSpPr>
        <p:grpSpPr>
          <a:xfrm>
            <a:off x="7399358" y="1904902"/>
            <a:ext cx="3060948" cy="306094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grpSp>
        <p:nvGrpSpPr>
          <p:cNvPr id="9" name="Group 9"/>
          <p:cNvGrpSpPr/>
          <p:nvPr/>
        </p:nvGrpSpPr>
        <p:grpSpPr>
          <a:xfrm>
            <a:off x="13614717" y="1904902"/>
            <a:ext cx="3060948" cy="306094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sp>
        <p:nvSpPr>
          <p:cNvPr id="12" name="Freeform 12"/>
          <p:cNvSpPr/>
          <p:nvPr/>
        </p:nvSpPr>
        <p:spPr>
          <a:xfrm>
            <a:off x="1543257" y="2281791"/>
            <a:ext cx="2335889" cy="2307169"/>
          </a:xfrm>
          <a:custGeom>
            <a:avLst/>
            <a:gdLst/>
            <a:ahLst/>
            <a:cxnLst/>
            <a:rect l="l" t="t" r="r" b="b"/>
            <a:pathLst>
              <a:path w="2335889" h="2307169">
                <a:moveTo>
                  <a:pt x="0" y="0"/>
                </a:moveTo>
                <a:lnTo>
                  <a:pt x="2335890" y="0"/>
                </a:lnTo>
                <a:lnTo>
                  <a:pt x="2335890" y="2307169"/>
                </a:lnTo>
                <a:lnTo>
                  <a:pt x="0" y="2307169"/>
                </a:lnTo>
                <a:lnTo>
                  <a:pt x="0" y="0"/>
                </a:lnTo>
                <a:close/>
              </a:path>
            </a:pathLst>
          </a:custGeom>
          <a:blipFill>
            <a:blip r:embed="rId3"/>
            <a:stretch>
              <a:fillRect/>
            </a:stretch>
          </a:blipFill>
        </p:spPr>
        <p:txBody>
          <a:bodyPr/>
          <a:lstStyle/>
          <a:p>
            <a:endParaRPr lang="tr-TR"/>
          </a:p>
        </p:txBody>
      </p:sp>
      <p:sp>
        <p:nvSpPr>
          <p:cNvPr id="13" name="Freeform 13"/>
          <p:cNvSpPr/>
          <p:nvPr/>
        </p:nvSpPr>
        <p:spPr>
          <a:xfrm>
            <a:off x="7840606" y="2364689"/>
            <a:ext cx="2178453" cy="2141373"/>
          </a:xfrm>
          <a:custGeom>
            <a:avLst/>
            <a:gdLst/>
            <a:ahLst/>
            <a:cxnLst/>
            <a:rect l="l" t="t" r="r" b="b"/>
            <a:pathLst>
              <a:path w="2178453" h="2141373">
                <a:moveTo>
                  <a:pt x="0" y="0"/>
                </a:moveTo>
                <a:lnTo>
                  <a:pt x="2178452" y="0"/>
                </a:lnTo>
                <a:lnTo>
                  <a:pt x="2178452" y="2141373"/>
                </a:lnTo>
                <a:lnTo>
                  <a:pt x="0" y="2141373"/>
                </a:lnTo>
                <a:lnTo>
                  <a:pt x="0" y="0"/>
                </a:lnTo>
                <a:close/>
              </a:path>
            </a:pathLst>
          </a:custGeom>
          <a:blipFill>
            <a:blip r:embed="rId4"/>
            <a:stretch>
              <a:fillRect/>
            </a:stretch>
          </a:blipFill>
        </p:spPr>
        <p:txBody>
          <a:bodyPr/>
          <a:lstStyle/>
          <a:p>
            <a:endParaRPr lang="tr-TR"/>
          </a:p>
        </p:txBody>
      </p:sp>
      <p:sp>
        <p:nvSpPr>
          <p:cNvPr id="14" name="Freeform 14"/>
          <p:cNvSpPr/>
          <p:nvPr/>
        </p:nvSpPr>
        <p:spPr>
          <a:xfrm>
            <a:off x="14051231" y="2436673"/>
            <a:ext cx="2197570" cy="2188138"/>
          </a:xfrm>
          <a:custGeom>
            <a:avLst/>
            <a:gdLst/>
            <a:ahLst/>
            <a:cxnLst/>
            <a:rect l="l" t="t" r="r" b="b"/>
            <a:pathLst>
              <a:path w="2197570" h="2188138">
                <a:moveTo>
                  <a:pt x="0" y="0"/>
                </a:moveTo>
                <a:lnTo>
                  <a:pt x="2197570" y="0"/>
                </a:lnTo>
                <a:lnTo>
                  <a:pt x="2197570" y="2188138"/>
                </a:lnTo>
                <a:lnTo>
                  <a:pt x="0" y="2188138"/>
                </a:lnTo>
                <a:lnTo>
                  <a:pt x="0" y="0"/>
                </a:lnTo>
                <a:close/>
              </a:path>
            </a:pathLst>
          </a:custGeom>
          <a:blipFill>
            <a:blip r:embed="rId5"/>
            <a:stretch>
              <a:fillRect/>
            </a:stretch>
          </a:blipFill>
        </p:spPr>
        <p:txBody>
          <a:bodyPr/>
          <a:lstStyle/>
          <a:p>
            <a:endParaRPr lang="tr-TR"/>
          </a:p>
        </p:txBody>
      </p:sp>
      <p:sp>
        <p:nvSpPr>
          <p:cNvPr id="15" name="TextBox 15"/>
          <p:cNvSpPr txBox="1"/>
          <p:nvPr/>
        </p:nvSpPr>
        <p:spPr>
          <a:xfrm>
            <a:off x="1179195" y="5433138"/>
            <a:ext cx="4304003"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Aviyonik Birimi </a:t>
            </a:r>
          </a:p>
        </p:txBody>
      </p:sp>
      <p:sp>
        <p:nvSpPr>
          <p:cNvPr id="16" name="TextBox 16"/>
          <p:cNvSpPr txBox="1"/>
          <p:nvPr/>
        </p:nvSpPr>
        <p:spPr>
          <a:xfrm>
            <a:off x="1833161" y="223708"/>
            <a:ext cx="15433126" cy="1109748"/>
          </a:xfrm>
          <a:prstGeom prst="rect">
            <a:avLst/>
          </a:prstGeom>
        </p:spPr>
        <p:txBody>
          <a:bodyPr lIns="0" tIns="0" rIns="0" bIns="0" rtlCol="0" anchor="t">
            <a:spAutoFit/>
          </a:bodyPr>
          <a:lstStyle/>
          <a:p>
            <a:pPr algn="ctr">
              <a:lnSpc>
                <a:spcPts val="8989"/>
              </a:lnSpc>
            </a:pPr>
            <a:r>
              <a:rPr lang="en-US" sz="7022" spc="-14">
                <a:solidFill>
                  <a:srgbClr val="000000"/>
                </a:solidFill>
                <a:latin typeface="Poppins Bold"/>
                <a:ea typeface="Poppins Bold"/>
                <a:cs typeface="Poppins Bold"/>
                <a:sym typeface="Poppins Bold"/>
              </a:rPr>
              <a:t>ALT BİRİMLERİMİZ </a:t>
            </a:r>
          </a:p>
        </p:txBody>
      </p:sp>
      <p:sp>
        <p:nvSpPr>
          <p:cNvPr id="17" name="TextBox 17"/>
          <p:cNvSpPr txBox="1"/>
          <p:nvPr/>
        </p:nvSpPr>
        <p:spPr>
          <a:xfrm>
            <a:off x="1028700" y="6032058"/>
            <a:ext cx="5391166" cy="3541867"/>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Aviyonik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havacılıkta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uçaklar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uydular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haberleşme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sistemleriyle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ilgili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kullanılan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terimdir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Ekibimizdeki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aviyonik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uçağın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elektronik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devreleri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haberleşme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sistemleri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otonomi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yardımcı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elektronik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sistemlerini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kapsayan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çalışmalardan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sorumludur</a:t>
            </a:r>
            <a:r>
              <a:rPr lang="en-US" sz="2469" b="1" spc="56" dirty="0">
                <a:solidFill>
                  <a:srgbClr val="000000"/>
                </a:solidFill>
                <a:latin typeface="Barlow Semi-Bold"/>
                <a:ea typeface="Barlow Semi-Bold"/>
                <a:cs typeface="Barlow Semi-Bold"/>
                <a:sym typeface="Barlow Semi-Bold"/>
              </a:rPr>
              <a:t>.</a:t>
            </a:r>
          </a:p>
        </p:txBody>
      </p:sp>
      <p:sp>
        <p:nvSpPr>
          <p:cNvPr id="18" name="TextBox 18"/>
          <p:cNvSpPr txBox="1"/>
          <p:nvPr/>
        </p:nvSpPr>
        <p:spPr>
          <a:xfrm>
            <a:off x="7397722" y="5433138"/>
            <a:ext cx="4304003"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Yapısal Birimi </a:t>
            </a:r>
          </a:p>
        </p:txBody>
      </p:sp>
      <p:sp>
        <p:nvSpPr>
          <p:cNvPr id="19" name="TextBox 19"/>
          <p:cNvSpPr txBox="1"/>
          <p:nvPr/>
        </p:nvSpPr>
        <p:spPr>
          <a:xfrm>
            <a:off x="13616250" y="5433138"/>
            <a:ext cx="4304003"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Yazılım Birimi</a:t>
            </a:r>
          </a:p>
        </p:txBody>
      </p:sp>
      <p:sp>
        <p:nvSpPr>
          <p:cNvPr id="20" name="TextBox 20"/>
          <p:cNvSpPr txBox="1"/>
          <p:nvPr/>
        </p:nvSpPr>
        <p:spPr>
          <a:xfrm>
            <a:off x="7018415" y="6041968"/>
            <a:ext cx="4996301" cy="3093026"/>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Takımımızdaki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yapısal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uçakların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mekanik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montajı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onarımı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yardımcı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mekanizmalarının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sistemleri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ile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komponent</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tamiri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birleştirilmesi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gibi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çalışmaları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kapsar</a:t>
            </a:r>
            <a:r>
              <a:rPr lang="en-US" sz="2469" b="1" spc="56" dirty="0">
                <a:solidFill>
                  <a:srgbClr val="000000"/>
                </a:solidFill>
                <a:latin typeface="Barlow Semi-Bold"/>
                <a:ea typeface="Barlow Semi-Bold"/>
                <a:cs typeface="Barlow Semi-Bold"/>
                <a:sym typeface="Barlow Semi-Bold"/>
              </a:rPr>
              <a:t>.</a:t>
            </a:r>
          </a:p>
        </p:txBody>
      </p:sp>
      <p:sp>
        <p:nvSpPr>
          <p:cNvPr id="21" name="TextBox 21"/>
          <p:cNvSpPr txBox="1"/>
          <p:nvPr/>
        </p:nvSpPr>
        <p:spPr>
          <a:xfrm>
            <a:off x="12613264" y="6041968"/>
            <a:ext cx="5306988" cy="3541867"/>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Takımımızdaki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yazılım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projeden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projeye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değişiklik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göstererek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ürettiğimiz</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İHA'nın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yardımcı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sistemlerin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yazılımsal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ihtiyaçlarını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karşılamak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üzere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otonom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uçuş</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yazılımları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görüntü</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işleme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yapay</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zeka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üzerine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çalışmalar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yürütür</a:t>
            </a:r>
            <a:r>
              <a:rPr lang="en-US" sz="2469" b="1" spc="56" dirty="0">
                <a:solidFill>
                  <a:srgbClr val="000000"/>
                </a:solidFill>
                <a:latin typeface="Barlow Semi-Bold"/>
                <a:ea typeface="Barlow Semi-Bold"/>
                <a:cs typeface="Barlow Semi-Bold"/>
                <a:sym typeface="Barlow Semi-Bold"/>
              </a:rPr>
              <a:t>.</a:t>
            </a:r>
          </a:p>
        </p:txBody>
      </p:sp>
      <p:sp>
        <p:nvSpPr>
          <p:cNvPr id="22" name="Freeform 22"/>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6"/>
            <a:stretch>
              <a:fillRect/>
            </a:stretch>
          </a:blipFill>
        </p:spPr>
        <p:txBody>
          <a:bodyPr/>
          <a:lstStyle/>
          <a:p>
            <a:endParaRPr lang="tr-T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17043" y="-2327172"/>
            <a:ext cx="21405043" cy="12614172"/>
          </a:xfrm>
          <a:custGeom>
            <a:avLst/>
            <a:gdLst/>
            <a:ahLst/>
            <a:cxnLst/>
            <a:rect l="l" t="t" r="r" b="b"/>
            <a:pathLst>
              <a:path w="21405043" h="12614172">
                <a:moveTo>
                  <a:pt x="0" y="0"/>
                </a:moveTo>
                <a:lnTo>
                  <a:pt x="21405043" y="0"/>
                </a:lnTo>
                <a:lnTo>
                  <a:pt x="21405043" y="12614172"/>
                </a:lnTo>
                <a:lnTo>
                  <a:pt x="0" y="12614172"/>
                </a:lnTo>
                <a:lnTo>
                  <a:pt x="0" y="0"/>
                </a:lnTo>
                <a:close/>
              </a:path>
            </a:pathLst>
          </a:custGeom>
          <a:blipFill>
            <a:blip r:embed="rId2"/>
            <a:stretch>
              <a:fillRect t="-61030" r="-10909" b="-89907"/>
            </a:stretch>
          </a:blipFill>
        </p:spPr>
        <p:txBody>
          <a:bodyPr/>
          <a:lstStyle/>
          <a:p>
            <a:endParaRPr lang="tr-TR"/>
          </a:p>
        </p:txBody>
      </p:sp>
      <p:grpSp>
        <p:nvGrpSpPr>
          <p:cNvPr id="3" name="Group 3"/>
          <p:cNvGrpSpPr/>
          <p:nvPr/>
        </p:nvGrpSpPr>
        <p:grpSpPr>
          <a:xfrm>
            <a:off x="1161678" y="1947755"/>
            <a:ext cx="3060948" cy="306094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grpSp>
        <p:nvGrpSpPr>
          <p:cNvPr id="6" name="Group 6"/>
          <p:cNvGrpSpPr/>
          <p:nvPr/>
        </p:nvGrpSpPr>
        <p:grpSpPr>
          <a:xfrm>
            <a:off x="7137040" y="2082552"/>
            <a:ext cx="3060948" cy="306094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grpSp>
        <p:nvGrpSpPr>
          <p:cNvPr id="9" name="Group 9"/>
          <p:cNvGrpSpPr/>
          <p:nvPr/>
        </p:nvGrpSpPr>
        <p:grpSpPr>
          <a:xfrm>
            <a:off x="13521092" y="2082552"/>
            <a:ext cx="3060948" cy="306094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0000"/>
              </a:solidFill>
              <a:prstDash val="solid"/>
              <a:miter/>
            </a:ln>
          </p:spPr>
          <p:txBody>
            <a:bodyPr/>
            <a:lstStyle/>
            <a:p>
              <a:endParaRPr lang="tr-TR"/>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233"/>
                </a:lnSpc>
              </a:pPr>
              <a:endParaRPr/>
            </a:p>
          </p:txBody>
        </p:sp>
      </p:grpSp>
      <p:sp>
        <p:nvSpPr>
          <p:cNvPr id="12" name="Freeform 12"/>
          <p:cNvSpPr/>
          <p:nvPr/>
        </p:nvSpPr>
        <p:spPr>
          <a:xfrm>
            <a:off x="13907303" y="2473571"/>
            <a:ext cx="2288526" cy="2278910"/>
          </a:xfrm>
          <a:custGeom>
            <a:avLst/>
            <a:gdLst/>
            <a:ahLst/>
            <a:cxnLst/>
            <a:rect l="l" t="t" r="r" b="b"/>
            <a:pathLst>
              <a:path w="2288526" h="2278910">
                <a:moveTo>
                  <a:pt x="0" y="0"/>
                </a:moveTo>
                <a:lnTo>
                  <a:pt x="2288526" y="0"/>
                </a:lnTo>
                <a:lnTo>
                  <a:pt x="2288526" y="2278910"/>
                </a:lnTo>
                <a:lnTo>
                  <a:pt x="0" y="2278910"/>
                </a:lnTo>
                <a:lnTo>
                  <a:pt x="0" y="0"/>
                </a:lnTo>
                <a:close/>
              </a:path>
            </a:pathLst>
          </a:custGeom>
          <a:blipFill>
            <a:blip r:embed="rId3"/>
            <a:stretch>
              <a:fillRect/>
            </a:stretch>
          </a:blipFill>
        </p:spPr>
        <p:txBody>
          <a:bodyPr/>
          <a:lstStyle/>
          <a:p>
            <a:endParaRPr lang="tr-TR"/>
          </a:p>
        </p:txBody>
      </p:sp>
      <p:sp>
        <p:nvSpPr>
          <p:cNvPr id="13" name="Freeform 13"/>
          <p:cNvSpPr/>
          <p:nvPr/>
        </p:nvSpPr>
        <p:spPr>
          <a:xfrm>
            <a:off x="7294778" y="2734707"/>
            <a:ext cx="2745472" cy="1756637"/>
          </a:xfrm>
          <a:custGeom>
            <a:avLst/>
            <a:gdLst/>
            <a:ahLst/>
            <a:cxnLst/>
            <a:rect l="l" t="t" r="r" b="b"/>
            <a:pathLst>
              <a:path w="2745472" h="1756637">
                <a:moveTo>
                  <a:pt x="0" y="0"/>
                </a:moveTo>
                <a:lnTo>
                  <a:pt x="2745472" y="0"/>
                </a:lnTo>
                <a:lnTo>
                  <a:pt x="2745472" y="1756637"/>
                </a:lnTo>
                <a:lnTo>
                  <a:pt x="0" y="1756637"/>
                </a:lnTo>
                <a:lnTo>
                  <a:pt x="0" y="0"/>
                </a:lnTo>
                <a:close/>
              </a:path>
            </a:pathLst>
          </a:custGeom>
          <a:blipFill>
            <a:blip r:embed="rId4"/>
            <a:stretch>
              <a:fillRect/>
            </a:stretch>
          </a:blipFill>
        </p:spPr>
        <p:txBody>
          <a:bodyPr/>
          <a:lstStyle/>
          <a:p>
            <a:endParaRPr lang="tr-TR"/>
          </a:p>
        </p:txBody>
      </p:sp>
      <p:sp>
        <p:nvSpPr>
          <p:cNvPr id="14" name="Freeform 14"/>
          <p:cNvSpPr/>
          <p:nvPr/>
        </p:nvSpPr>
        <p:spPr>
          <a:xfrm>
            <a:off x="1570368" y="2351732"/>
            <a:ext cx="2243568" cy="2252995"/>
          </a:xfrm>
          <a:custGeom>
            <a:avLst/>
            <a:gdLst/>
            <a:ahLst/>
            <a:cxnLst/>
            <a:rect l="l" t="t" r="r" b="b"/>
            <a:pathLst>
              <a:path w="2243568" h="2252995">
                <a:moveTo>
                  <a:pt x="0" y="0"/>
                </a:moveTo>
                <a:lnTo>
                  <a:pt x="2243568" y="0"/>
                </a:lnTo>
                <a:lnTo>
                  <a:pt x="2243568" y="2252995"/>
                </a:lnTo>
                <a:lnTo>
                  <a:pt x="0" y="2252995"/>
                </a:lnTo>
                <a:lnTo>
                  <a:pt x="0" y="0"/>
                </a:lnTo>
                <a:close/>
              </a:path>
            </a:pathLst>
          </a:custGeom>
          <a:blipFill>
            <a:blip r:embed="rId5"/>
            <a:stretch>
              <a:fillRect/>
            </a:stretch>
          </a:blipFill>
        </p:spPr>
        <p:txBody>
          <a:bodyPr/>
          <a:lstStyle/>
          <a:p>
            <a:endParaRPr lang="tr-TR"/>
          </a:p>
        </p:txBody>
      </p:sp>
      <p:sp>
        <p:nvSpPr>
          <p:cNvPr id="15" name="TextBox 15"/>
          <p:cNvSpPr txBox="1"/>
          <p:nvPr/>
        </p:nvSpPr>
        <p:spPr>
          <a:xfrm>
            <a:off x="1826174" y="198477"/>
            <a:ext cx="15433126" cy="1109748"/>
          </a:xfrm>
          <a:prstGeom prst="rect">
            <a:avLst/>
          </a:prstGeom>
        </p:spPr>
        <p:txBody>
          <a:bodyPr lIns="0" tIns="0" rIns="0" bIns="0" rtlCol="0" anchor="t">
            <a:spAutoFit/>
          </a:bodyPr>
          <a:lstStyle/>
          <a:p>
            <a:pPr algn="ctr">
              <a:lnSpc>
                <a:spcPts val="8989"/>
              </a:lnSpc>
            </a:pPr>
            <a:r>
              <a:rPr lang="en-US" sz="7022" spc="-14">
                <a:solidFill>
                  <a:srgbClr val="000000"/>
                </a:solidFill>
                <a:latin typeface="Poppins Bold"/>
                <a:ea typeface="Poppins Bold"/>
                <a:cs typeface="Poppins Bold"/>
                <a:sym typeface="Poppins Bold"/>
              </a:rPr>
              <a:t>ALT BİRİMLERİMİZ </a:t>
            </a:r>
          </a:p>
        </p:txBody>
      </p:sp>
      <p:sp>
        <p:nvSpPr>
          <p:cNvPr id="16" name="TextBox 16"/>
          <p:cNvSpPr txBox="1"/>
          <p:nvPr/>
        </p:nvSpPr>
        <p:spPr>
          <a:xfrm>
            <a:off x="7071565" y="5559757"/>
            <a:ext cx="4304003"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Kompozit Birimi </a:t>
            </a:r>
          </a:p>
        </p:txBody>
      </p:sp>
      <p:sp>
        <p:nvSpPr>
          <p:cNvPr id="17" name="TextBox 17"/>
          <p:cNvSpPr txBox="1"/>
          <p:nvPr/>
        </p:nvSpPr>
        <p:spPr>
          <a:xfrm>
            <a:off x="1028700" y="5559757"/>
            <a:ext cx="4304003"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Tasarım Birimi </a:t>
            </a:r>
          </a:p>
        </p:txBody>
      </p:sp>
      <p:sp>
        <p:nvSpPr>
          <p:cNvPr id="18" name="TextBox 18"/>
          <p:cNvSpPr txBox="1"/>
          <p:nvPr/>
        </p:nvSpPr>
        <p:spPr>
          <a:xfrm>
            <a:off x="11974370" y="5559757"/>
            <a:ext cx="5284930" cy="456430"/>
          </a:xfrm>
          <a:prstGeom prst="rect">
            <a:avLst/>
          </a:prstGeom>
        </p:spPr>
        <p:txBody>
          <a:bodyPr lIns="0" tIns="0" rIns="0" bIns="0" rtlCol="0" anchor="t">
            <a:spAutoFit/>
          </a:bodyPr>
          <a:lstStyle/>
          <a:p>
            <a:pPr algn="l">
              <a:lnSpc>
                <a:spcPts val="3717"/>
              </a:lnSpc>
            </a:pPr>
            <a:r>
              <a:rPr lang="en-US" sz="2655" spc="61">
                <a:solidFill>
                  <a:srgbClr val="000000"/>
                </a:solidFill>
                <a:latin typeface="Poppins Bold"/>
                <a:ea typeface="Poppins Bold"/>
                <a:cs typeface="Poppins Bold"/>
                <a:sym typeface="Poppins Bold"/>
              </a:rPr>
              <a:t>Medya ve Sponsorluk Birimi </a:t>
            </a:r>
          </a:p>
        </p:txBody>
      </p:sp>
      <p:sp>
        <p:nvSpPr>
          <p:cNvPr id="19" name="TextBox 19"/>
          <p:cNvSpPr txBox="1"/>
          <p:nvPr/>
        </p:nvSpPr>
        <p:spPr>
          <a:xfrm>
            <a:off x="1028700" y="6197162"/>
            <a:ext cx="4784089" cy="2185162"/>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Takımımızdaki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tasarım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ürettiğimiz</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İHA'ların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parçalarının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teknik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çizimlerini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yaparak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uçak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komponent</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tasarımı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çalışmalarını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yürütür</a:t>
            </a:r>
            <a:r>
              <a:rPr lang="en-US" sz="2469" b="1" spc="56" dirty="0">
                <a:solidFill>
                  <a:srgbClr val="000000"/>
                </a:solidFill>
                <a:latin typeface="Barlow Semi-Bold"/>
                <a:ea typeface="Barlow Semi-Bold"/>
                <a:cs typeface="Barlow Semi-Bold"/>
                <a:sym typeface="Barlow Semi-Bold"/>
              </a:rPr>
              <a:t>.</a:t>
            </a:r>
          </a:p>
        </p:txBody>
      </p:sp>
      <p:sp>
        <p:nvSpPr>
          <p:cNvPr id="20" name="TextBox 20"/>
          <p:cNvSpPr txBox="1"/>
          <p:nvPr/>
        </p:nvSpPr>
        <p:spPr>
          <a:xfrm>
            <a:off x="6617720" y="6197162"/>
            <a:ext cx="5052559" cy="3093026"/>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Takımımızın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kompozit</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vakum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infüzyon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elle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yatırma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yöntemleriyle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ürettiğimiz</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uçakların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gövde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kanat</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gibi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bileşenlerini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karbon</a:t>
            </a:r>
            <a:r>
              <a:rPr lang="en-US" sz="2469" b="1" spc="56" dirty="0">
                <a:solidFill>
                  <a:srgbClr val="000000"/>
                </a:solidFill>
                <a:latin typeface="Barlow Semi-Bold"/>
                <a:ea typeface="Barlow Semi-Bold"/>
                <a:cs typeface="Barlow Semi-Bold"/>
                <a:sym typeface="Barlow Semi-Bold"/>
              </a:rPr>
              <a:t> fiber </a:t>
            </a:r>
            <a:r>
              <a:rPr lang="en-US" sz="2469" b="1" spc="56" dirty="0" err="1">
                <a:solidFill>
                  <a:srgbClr val="000000"/>
                </a:solidFill>
                <a:latin typeface="Barlow Semi-Bold"/>
                <a:ea typeface="Barlow Semi-Bold"/>
                <a:cs typeface="Barlow Semi-Bold"/>
                <a:sym typeface="Barlow Semi-Bold"/>
              </a:rPr>
              <a:t>kumaş</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cam </a:t>
            </a:r>
            <a:r>
              <a:rPr lang="en-US" sz="2469" b="1" spc="56" dirty="0" err="1">
                <a:solidFill>
                  <a:srgbClr val="000000"/>
                </a:solidFill>
                <a:latin typeface="Barlow Semi-Bold"/>
                <a:ea typeface="Barlow Semi-Bold"/>
                <a:cs typeface="Barlow Semi-Bold"/>
                <a:sym typeface="Barlow Semi-Bold"/>
              </a:rPr>
              <a:t>elyaf</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gibi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takviye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elemanları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kullanarak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üretir</a:t>
            </a:r>
            <a:r>
              <a:rPr lang="en-US" sz="2469" b="1" spc="56" dirty="0">
                <a:solidFill>
                  <a:srgbClr val="000000"/>
                </a:solidFill>
                <a:latin typeface="Barlow Semi-Bold"/>
                <a:ea typeface="Barlow Semi-Bold"/>
                <a:cs typeface="Barlow Semi-Bold"/>
                <a:sym typeface="Barlow Semi-Bold"/>
              </a:rPr>
              <a:t>.</a:t>
            </a:r>
          </a:p>
        </p:txBody>
      </p:sp>
      <p:sp>
        <p:nvSpPr>
          <p:cNvPr id="21" name="TextBox 21"/>
          <p:cNvSpPr txBox="1"/>
          <p:nvPr/>
        </p:nvSpPr>
        <p:spPr>
          <a:xfrm>
            <a:off x="11885788" y="6187637"/>
            <a:ext cx="6331556" cy="3541867"/>
          </a:xfrm>
          <a:prstGeom prst="rect">
            <a:avLst/>
          </a:prstGeom>
        </p:spPr>
        <p:txBody>
          <a:bodyPr lIns="0" tIns="0" rIns="0" bIns="0" rtlCol="0" anchor="t">
            <a:spAutoFit/>
          </a:bodyPr>
          <a:lstStyle/>
          <a:p>
            <a:pPr algn="l">
              <a:lnSpc>
                <a:spcPts val="3457"/>
              </a:lnSpc>
            </a:pPr>
            <a:r>
              <a:rPr lang="en-US" sz="2469" b="1" spc="56" dirty="0" err="1">
                <a:solidFill>
                  <a:srgbClr val="000000"/>
                </a:solidFill>
                <a:latin typeface="Barlow Semi-Bold"/>
                <a:ea typeface="Barlow Semi-Bold"/>
                <a:cs typeface="Barlow Semi-Bold"/>
                <a:sym typeface="Barlow Semi-Bold"/>
              </a:rPr>
              <a:t>Takımımızda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medya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sponsorluk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birimi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sosyal</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medya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platformlarının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yönetimi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içerik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üretimi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sponsorlarla</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iletişim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organizasyon</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gibi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konuları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kapsayarak</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takımı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tanıtır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reklam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eylemleri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gerçekleştirir</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ve</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gerekli</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sponsorlukları</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bulup</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iletişim</a:t>
            </a:r>
            <a:r>
              <a:rPr lang="en-US" sz="2469" b="1" spc="56" dirty="0">
                <a:solidFill>
                  <a:srgbClr val="000000"/>
                </a:solidFill>
                <a:latin typeface="Barlow Semi-Bold"/>
                <a:ea typeface="Barlow Semi-Bold"/>
                <a:cs typeface="Barlow Semi-Bold"/>
                <a:sym typeface="Barlow Semi-Bold"/>
              </a:rPr>
              <a:t> </a:t>
            </a:r>
            <a:r>
              <a:rPr lang="en-US" sz="2469" b="1" spc="56" dirty="0" err="1">
                <a:solidFill>
                  <a:srgbClr val="000000"/>
                </a:solidFill>
                <a:latin typeface="Barlow Semi-Bold"/>
                <a:ea typeface="Barlow Semi-Bold"/>
                <a:cs typeface="Barlow Semi-Bold"/>
                <a:sym typeface="Barlow Semi-Bold"/>
              </a:rPr>
              <a:t>sağlar</a:t>
            </a:r>
            <a:r>
              <a:rPr lang="en-US" sz="2469" b="1" spc="56" dirty="0">
                <a:solidFill>
                  <a:srgbClr val="000000"/>
                </a:solidFill>
                <a:latin typeface="Barlow Semi-Bold"/>
                <a:ea typeface="Barlow Semi-Bold"/>
                <a:cs typeface="Barlow Semi-Bold"/>
                <a:sym typeface="Barlow Semi-Bold"/>
              </a:rPr>
              <a:t>.</a:t>
            </a:r>
          </a:p>
          <a:p>
            <a:pPr algn="l">
              <a:lnSpc>
                <a:spcPts val="3457"/>
              </a:lnSpc>
            </a:pPr>
            <a:endParaRPr lang="en-US" sz="2469" b="1" spc="56" dirty="0">
              <a:solidFill>
                <a:srgbClr val="000000"/>
              </a:solidFill>
              <a:latin typeface="Barlow Semi-Bold"/>
              <a:ea typeface="Barlow Semi-Bold"/>
              <a:cs typeface="Barlow Semi-Bold"/>
              <a:sym typeface="Barlow Semi-Bold"/>
            </a:endParaRPr>
          </a:p>
        </p:txBody>
      </p:sp>
      <p:sp>
        <p:nvSpPr>
          <p:cNvPr id="22" name="Freeform 22"/>
          <p:cNvSpPr/>
          <p:nvPr/>
        </p:nvSpPr>
        <p:spPr>
          <a:xfrm>
            <a:off x="16252592" y="203381"/>
            <a:ext cx="2013416" cy="1650638"/>
          </a:xfrm>
          <a:custGeom>
            <a:avLst/>
            <a:gdLst/>
            <a:ahLst/>
            <a:cxnLst/>
            <a:rect l="l" t="t" r="r" b="b"/>
            <a:pathLst>
              <a:path w="2013416" h="1650638">
                <a:moveTo>
                  <a:pt x="0" y="0"/>
                </a:moveTo>
                <a:lnTo>
                  <a:pt x="2013416" y="0"/>
                </a:lnTo>
                <a:lnTo>
                  <a:pt x="2013416" y="1650638"/>
                </a:lnTo>
                <a:lnTo>
                  <a:pt x="0" y="1650638"/>
                </a:lnTo>
                <a:lnTo>
                  <a:pt x="0" y="0"/>
                </a:lnTo>
                <a:close/>
              </a:path>
            </a:pathLst>
          </a:custGeom>
          <a:blipFill>
            <a:blip r:embed="rId6"/>
            <a:stretch>
              <a:fillRect/>
            </a:stretch>
          </a:blipFill>
        </p:spPr>
        <p:txBody>
          <a:bodyPr/>
          <a:lstStyle/>
          <a:p>
            <a:endParaRPr lang="tr-T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2D5E1"/>
        </a:solidFill>
        <a:effectLst/>
      </p:bgPr>
    </p:bg>
    <p:spTree>
      <p:nvGrpSpPr>
        <p:cNvPr id="1" name=""/>
        <p:cNvGrpSpPr/>
        <p:nvPr/>
      </p:nvGrpSpPr>
      <p:grpSpPr>
        <a:xfrm>
          <a:off x="0" y="0"/>
          <a:ext cx="0" cy="0"/>
          <a:chOff x="0" y="0"/>
          <a:chExt cx="0" cy="0"/>
        </a:xfrm>
      </p:grpSpPr>
      <p:sp>
        <p:nvSpPr>
          <p:cNvPr id="2" name="Freeform 2"/>
          <p:cNvSpPr/>
          <p:nvPr/>
        </p:nvSpPr>
        <p:spPr>
          <a:xfrm>
            <a:off x="557556" y="7070850"/>
            <a:ext cx="1500673" cy="1527047"/>
          </a:xfrm>
          <a:custGeom>
            <a:avLst/>
            <a:gdLst/>
            <a:ahLst/>
            <a:cxnLst/>
            <a:rect l="l" t="t" r="r" b="b"/>
            <a:pathLst>
              <a:path w="1500673" h="1527047">
                <a:moveTo>
                  <a:pt x="0" y="0"/>
                </a:moveTo>
                <a:lnTo>
                  <a:pt x="1500673" y="0"/>
                </a:lnTo>
                <a:lnTo>
                  <a:pt x="1500673" y="1527047"/>
                </a:lnTo>
                <a:lnTo>
                  <a:pt x="0" y="15270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9144000" y="0"/>
            <a:ext cx="9144000" cy="10374215"/>
          </a:xfrm>
          <a:custGeom>
            <a:avLst/>
            <a:gdLst/>
            <a:ahLst/>
            <a:cxnLst/>
            <a:rect l="l" t="t" r="r" b="b"/>
            <a:pathLst>
              <a:path w="9144000" h="10374215">
                <a:moveTo>
                  <a:pt x="0" y="0"/>
                </a:moveTo>
                <a:lnTo>
                  <a:pt x="9144000" y="0"/>
                </a:lnTo>
                <a:lnTo>
                  <a:pt x="9144000" y="10374215"/>
                </a:lnTo>
                <a:lnTo>
                  <a:pt x="0" y="10374215"/>
                </a:lnTo>
                <a:lnTo>
                  <a:pt x="0" y="0"/>
                </a:lnTo>
                <a:close/>
              </a:path>
            </a:pathLst>
          </a:custGeom>
          <a:blipFill>
            <a:blip r:embed="rId4"/>
            <a:stretch>
              <a:fillRect t="-12364" b="-12364"/>
            </a:stretch>
          </a:blipFill>
        </p:spPr>
        <p:txBody>
          <a:bodyPr/>
          <a:lstStyle/>
          <a:p>
            <a:endParaRPr lang="tr-TR"/>
          </a:p>
        </p:txBody>
      </p:sp>
      <p:sp>
        <p:nvSpPr>
          <p:cNvPr id="4" name="Freeform 4"/>
          <p:cNvSpPr/>
          <p:nvPr/>
        </p:nvSpPr>
        <p:spPr>
          <a:xfrm>
            <a:off x="-174035" y="-827275"/>
            <a:ext cx="9318035" cy="2356656"/>
          </a:xfrm>
          <a:custGeom>
            <a:avLst/>
            <a:gdLst/>
            <a:ahLst/>
            <a:cxnLst/>
            <a:rect l="l" t="t" r="r" b="b"/>
            <a:pathLst>
              <a:path w="9318035" h="2356656">
                <a:moveTo>
                  <a:pt x="0" y="0"/>
                </a:moveTo>
                <a:lnTo>
                  <a:pt x="9318035" y="0"/>
                </a:lnTo>
                <a:lnTo>
                  <a:pt x="9318035" y="2356656"/>
                </a:lnTo>
                <a:lnTo>
                  <a:pt x="0" y="2356656"/>
                </a:lnTo>
                <a:lnTo>
                  <a:pt x="0" y="0"/>
                </a:lnTo>
                <a:close/>
              </a:path>
            </a:pathLst>
          </a:custGeom>
          <a:blipFill>
            <a:blip r:embed="rId4"/>
            <a:stretch>
              <a:fillRect t="-24695" b="-434821"/>
            </a:stretch>
          </a:blipFill>
        </p:spPr>
        <p:txBody>
          <a:bodyPr/>
          <a:lstStyle/>
          <a:p>
            <a:endParaRPr lang="tr-TR"/>
          </a:p>
        </p:txBody>
      </p:sp>
      <p:sp>
        <p:nvSpPr>
          <p:cNvPr id="5" name="Freeform 5"/>
          <p:cNvSpPr/>
          <p:nvPr/>
        </p:nvSpPr>
        <p:spPr>
          <a:xfrm>
            <a:off x="0" y="8597897"/>
            <a:ext cx="3259255" cy="1933035"/>
          </a:xfrm>
          <a:custGeom>
            <a:avLst/>
            <a:gdLst/>
            <a:ahLst/>
            <a:cxnLst/>
            <a:rect l="l" t="t" r="r" b="b"/>
            <a:pathLst>
              <a:path w="3259255" h="1933035">
                <a:moveTo>
                  <a:pt x="0" y="0"/>
                </a:moveTo>
                <a:lnTo>
                  <a:pt x="3259255" y="0"/>
                </a:lnTo>
                <a:lnTo>
                  <a:pt x="3259255" y="1933035"/>
                </a:lnTo>
                <a:lnTo>
                  <a:pt x="0" y="1933035"/>
                </a:lnTo>
                <a:lnTo>
                  <a:pt x="0" y="0"/>
                </a:lnTo>
                <a:close/>
              </a:path>
            </a:pathLst>
          </a:custGeom>
          <a:blipFill>
            <a:blip r:embed="rId4"/>
            <a:stretch>
              <a:fillRect t="-515714" r="-177342" b="-46015"/>
            </a:stretch>
          </a:blipFill>
        </p:spPr>
        <p:txBody>
          <a:bodyPr/>
          <a:lstStyle/>
          <a:p>
            <a:endParaRPr lang="tr-TR"/>
          </a:p>
        </p:txBody>
      </p:sp>
      <p:sp>
        <p:nvSpPr>
          <p:cNvPr id="6" name="Freeform 6"/>
          <p:cNvSpPr/>
          <p:nvPr/>
        </p:nvSpPr>
        <p:spPr>
          <a:xfrm rot="-5400000">
            <a:off x="7162904" y="8997333"/>
            <a:ext cx="2029157" cy="1933035"/>
          </a:xfrm>
          <a:custGeom>
            <a:avLst/>
            <a:gdLst/>
            <a:ahLst/>
            <a:cxnLst/>
            <a:rect l="l" t="t" r="r" b="b"/>
            <a:pathLst>
              <a:path w="2029157" h="1933035">
                <a:moveTo>
                  <a:pt x="0" y="0"/>
                </a:moveTo>
                <a:lnTo>
                  <a:pt x="2029157" y="0"/>
                </a:lnTo>
                <a:lnTo>
                  <a:pt x="2029157" y="1933035"/>
                </a:lnTo>
                <a:lnTo>
                  <a:pt x="0" y="1933035"/>
                </a:lnTo>
                <a:lnTo>
                  <a:pt x="0" y="0"/>
                </a:lnTo>
                <a:close/>
              </a:path>
            </a:pathLst>
          </a:custGeom>
          <a:blipFill>
            <a:blip r:embed="rId4"/>
            <a:stretch>
              <a:fillRect t="-515714" r="-345470" b="-46015"/>
            </a:stretch>
          </a:blipFill>
        </p:spPr>
        <p:txBody>
          <a:bodyPr/>
          <a:lstStyle/>
          <a:p>
            <a:endParaRPr lang="tr-TR"/>
          </a:p>
        </p:txBody>
      </p:sp>
      <p:sp>
        <p:nvSpPr>
          <p:cNvPr id="7" name="Freeform 7"/>
          <p:cNvSpPr/>
          <p:nvPr/>
        </p:nvSpPr>
        <p:spPr>
          <a:xfrm>
            <a:off x="593327" y="5060009"/>
            <a:ext cx="1464902" cy="1464902"/>
          </a:xfrm>
          <a:custGeom>
            <a:avLst/>
            <a:gdLst/>
            <a:ahLst/>
            <a:cxnLst/>
            <a:rect l="l" t="t" r="r" b="b"/>
            <a:pathLst>
              <a:path w="1464902" h="1464902">
                <a:moveTo>
                  <a:pt x="0" y="0"/>
                </a:moveTo>
                <a:lnTo>
                  <a:pt x="1464902" y="0"/>
                </a:lnTo>
                <a:lnTo>
                  <a:pt x="1464902" y="1464902"/>
                </a:lnTo>
                <a:lnTo>
                  <a:pt x="0" y="14649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8" name="Freeform 8"/>
          <p:cNvSpPr/>
          <p:nvPr/>
        </p:nvSpPr>
        <p:spPr>
          <a:xfrm>
            <a:off x="700304" y="2604506"/>
            <a:ext cx="1215177" cy="1909564"/>
          </a:xfrm>
          <a:custGeom>
            <a:avLst/>
            <a:gdLst/>
            <a:ahLst/>
            <a:cxnLst/>
            <a:rect l="l" t="t" r="r" b="b"/>
            <a:pathLst>
              <a:path w="1215177" h="1909564">
                <a:moveTo>
                  <a:pt x="0" y="0"/>
                </a:moveTo>
                <a:lnTo>
                  <a:pt x="1215177" y="0"/>
                </a:lnTo>
                <a:lnTo>
                  <a:pt x="1215177" y="1909563"/>
                </a:lnTo>
                <a:lnTo>
                  <a:pt x="0" y="19095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tr-TR"/>
          </a:p>
        </p:txBody>
      </p:sp>
      <p:sp>
        <p:nvSpPr>
          <p:cNvPr id="9" name="Freeform 9"/>
          <p:cNvSpPr/>
          <p:nvPr/>
        </p:nvSpPr>
        <p:spPr>
          <a:xfrm>
            <a:off x="843230" y="2801147"/>
            <a:ext cx="929324" cy="1516281"/>
          </a:xfrm>
          <a:custGeom>
            <a:avLst/>
            <a:gdLst/>
            <a:ahLst/>
            <a:cxnLst/>
            <a:rect l="l" t="t" r="r" b="b"/>
            <a:pathLst>
              <a:path w="929324" h="1516281">
                <a:moveTo>
                  <a:pt x="0" y="0"/>
                </a:moveTo>
                <a:lnTo>
                  <a:pt x="929324" y="0"/>
                </a:lnTo>
                <a:lnTo>
                  <a:pt x="929324" y="1516281"/>
                </a:lnTo>
                <a:lnTo>
                  <a:pt x="0" y="1516281"/>
                </a:lnTo>
                <a:lnTo>
                  <a:pt x="0" y="0"/>
                </a:lnTo>
                <a:close/>
              </a:path>
            </a:pathLst>
          </a:custGeom>
          <a:blipFill>
            <a:blip r:embed="rId9"/>
            <a:stretch>
              <a:fillRect r="-164941" b="-73903"/>
            </a:stretch>
          </a:blipFill>
        </p:spPr>
        <p:txBody>
          <a:bodyPr/>
          <a:lstStyle/>
          <a:p>
            <a:endParaRPr lang="tr-TR"/>
          </a:p>
        </p:txBody>
      </p:sp>
      <p:sp>
        <p:nvSpPr>
          <p:cNvPr id="10" name="TextBox 10"/>
          <p:cNvSpPr txBox="1"/>
          <p:nvPr/>
        </p:nvSpPr>
        <p:spPr>
          <a:xfrm>
            <a:off x="2550505" y="7832608"/>
            <a:ext cx="5075122" cy="365760"/>
          </a:xfrm>
          <a:prstGeom prst="rect">
            <a:avLst/>
          </a:prstGeom>
        </p:spPr>
        <p:txBody>
          <a:bodyPr lIns="0" tIns="0" rIns="0" bIns="0" rtlCol="0" anchor="t">
            <a:spAutoFit/>
          </a:bodyPr>
          <a:lstStyle/>
          <a:p>
            <a:pPr algn="l">
              <a:lnSpc>
                <a:spcPts val="2939"/>
              </a:lnSpc>
            </a:pPr>
            <a:r>
              <a:rPr lang="en-US" sz="2099" b="1" spc="48">
                <a:solidFill>
                  <a:srgbClr val="022034"/>
                </a:solidFill>
                <a:latin typeface="Open Sauce Bold"/>
                <a:ea typeface="Open Sauce Bold"/>
                <a:cs typeface="Open Sauce Bold"/>
                <a:sym typeface="Open Sauce Bold"/>
              </a:rPr>
              <a:t>anatoliaaerodesign@gmail.com</a:t>
            </a:r>
          </a:p>
        </p:txBody>
      </p:sp>
      <p:sp>
        <p:nvSpPr>
          <p:cNvPr id="11" name="TextBox 11"/>
          <p:cNvSpPr txBox="1"/>
          <p:nvPr/>
        </p:nvSpPr>
        <p:spPr>
          <a:xfrm>
            <a:off x="497955" y="779877"/>
            <a:ext cx="6713010" cy="1474763"/>
          </a:xfrm>
          <a:prstGeom prst="rect">
            <a:avLst/>
          </a:prstGeom>
        </p:spPr>
        <p:txBody>
          <a:bodyPr lIns="0" tIns="0" rIns="0" bIns="0" rtlCol="0" anchor="t">
            <a:spAutoFit/>
          </a:bodyPr>
          <a:lstStyle/>
          <a:p>
            <a:pPr algn="l">
              <a:lnSpc>
                <a:spcPts val="11548"/>
              </a:lnSpc>
            </a:pPr>
            <a:r>
              <a:rPr lang="tr-TR" sz="9022" spc="-18" dirty="0">
                <a:solidFill>
                  <a:srgbClr val="022034"/>
                </a:solidFill>
                <a:latin typeface="Poppins Bold"/>
                <a:ea typeface="Poppins Bold"/>
                <a:cs typeface="Poppins Bold"/>
                <a:sym typeface="Poppins Bold"/>
              </a:rPr>
              <a:t>İ</a:t>
            </a:r>
            <a:r>
              <a:rPr lang="en-US" sz="9022" spc="-18" dirty="0">
                <a:solidFill>
                  <a:srgbClr val="022034"/>
                </a:solidFill>
                <a:latin typeface="Poppins Bold"/>
                <a:ea typeface="Poppins Bold"/>
                <a:cs typeface="Poppins Bold"/>
                <a:sym typeface="Poppins Bold"/>
              </a:rPr>
              <a:t>LET</a:t>
            </a:r>
            <a:r>
              <a:rPr lang="tr-TR" sz="9022" spc="-18" dirty="0">
                <a:solidFill>
                  <a:srgbClr val="022034"/>
                </a:solidFill>
                <a:latin typeface="Poppins Bold"/>
                <a:ea typeface="Poppins Bold"/>
                <a:cs typeface="Poppins Bold"/>
                <a:sym typeface="Poppins Bold"/>
              </a:rPr>
              <a:t>İ</a:t>
            </a:r>
            <a:r>
              <a:rPr lang="en-US" sz="9022" spc="-18" dirty="0">
                <a:solidFill>
                  <a:srgbClr val="022034"/>
                </a:solidFill>
                <a:latin typeface="Poppins Bold"/>
                <a:ea typeface="Poppins Bold"/>
                <a:cs typeface="Poppins Bold"/>
                <a:sym typeface="Poppins Bold"/>
              </a:rPr>
              <a:t>Ş</a:t>
            </a:r>
            <a:r>
              <a:rPr lang="tr-TR" sz="9022" spc="-18" dirty="0">
                <a:solidFill>
                  <a:srgbClr val="022034"/>
                </a:solidFill>
                <a:latin typeface="Poppins Bold"/>
                <a:ea typeface="Poppins Bold"/>
                <a:cs typeface="Poppins Bold"/>
                <a:sym typeface="Poppins Bold"/>
              </a:rPr>
              <a:t>İ</a:t>
            </a:r>
            <a:r>
              <a:rPr lang="en-US" sz="9022" spc="-18" dirty="0">
                <a:solidFill>
                  <a:srgbClr val="022034"/>
                </a:solidFill>
                <a:latin typeface="Poppins Bold"/>
                <a:ea typeface="Poppins Bold"/>
                <a:cs typeface="Poppins Bold"/>
                <a:sym typeface="Poppins Bold"/>
              </a:rPr>
              <a:t>M</a:t>
            </a:r>
          </a:p>
        </p:txBody>
      </p:sp>
      <p:sp>
        <p:nvSpPr>
          <p:cNvPr id="12" name="TextBox 12"/>
          <p:cNvSpPr txBox="1"/>
          <p:nvPr/>
        </p:nvSpPr>
        <p:spPr>
          <a:xfrm>
            <a:off x="2550505" y="3352595"/>
            <a:ext cx="5075122" cy="365760"/>
          </a:xfrm>
          <a:prstGeom prst="rect">
            <a:avLst/>
          </a:prstGeom>
        </p:spPr>
        <p:txBody>
          <a:bodyPr lIns="0" tIns="0" rIns="0" bIns="0" rtlCol="0" anchor="t">
            <a:spAutoFit/>
          </a:bodyPr>
          <a:lstStyle/>
          <a:p>
            <a:pPr algn="l">
              <a:lnSpc>
                <a:spcPts val="2939"/>
              </a:lnSpc>
            </a:pPr>
            <a:r>
              <a:rPr lang="en-US" sz="2099" b="1" spc="48">
                <a:solidFill>
                  <a:srgbClr val="022034"/>
                </a:solidFill>
                <a:latin typeface="Open Sauce Bold"/>
                <a:ea typeface="Open Sauce Bold"/>
                <a:cs typeface="Open Sauce Bold"/>
                <a:sym typeface="Open Sauce Bold"/>
              </a:rPr>
              <a:t>@ anatoliaaerodesign</a:t>
            </a:r>
          </a:p>
        </p:txBody>
      </p:sp>
      <p:sp>
        <p:nvSpPr>
          <p:cNvPr id="13" name="TextBox 13"/>
          <p:cNvSpPr txBox="1"/>
          <p:nvPr/>
        </p:nvSpPr>
        <p:spPr>
          <a:xfrm>
            <a:off x="2550505" y="5637495"/>
            <a:ext cx="5075122" cy="365760"/>
          </a:xfrm>
          <a:prstGeom prst="rect">
            <a:avLst/>
          </a:prstGeom>
        </p:spPr>
        <p:txBody>
          <a:bodyPr lIns="0" tIns="0" rIns="0" bIns="0" rtlCol="0" anchor="t">
            <a:spAutoFit/>
          </a:bodyPr>
          <a:lstStyle/>
          <a:p>
            <a:pPr algn="l">
              <a:lnSpc>
                <a:spcPts val="2939"/>
              </a:lnSpc>
            </a:pPr>
            <a:r>
              <a:rPr lang="en-US" sz="2099" b="1" spc="48">
                <a:solidFill>
                  <a:srgbClr val="022034"/>
                </a:solidFill>
                <a:latin typeface="Open Sauce Bold"/>
                <a:ea typeface="Open Sauce Bold"/>
                <a:cs typeface="Open Sauce Bold"/>
                <a:sym typeface="Open Sauce Bold"/>
              </a:rPr>
              <a:t>Anatolia Aero Design</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alphaModFix amt="92000"/>
          </a:blip>
          <a:srcRect/>
          <a:stretch>
            <a:fillRect/>
          </a:stretch>
        </p:blipFill>
        <p:spPr>
          <a:xfrm>
            <a:off x="0" y="0"/>
            <a:ext cx="18288000" cy="10287000"/>
          </a:xfrm>
          <a:prstGeom prst="rect">
            <a:avLst/>
          </a:prstGeom>
        </p:spPr>
      </p:pic>
      <p:sp>
        <p:nvSpPr>
          <p:cNvPr id="3" name="Freeform 3"/>
          <p:cNvSpPr/>
          <p:nvPr/>
        </p:nvSpPr>
        <p:spPr>
          <a:xfrm>
            <a:off x="16540809" y="975732"/>
            <a:ext cx="1436981" cy="1348150"/>
          </a:xfrm>
          <a:custGeom>
            <a:avLst/>
            <a:gdLst/>
            <a:ahLst/>
            <a:cxnLst/>
            <a:rect l="l" t="t" r="r" b="b"/>
            <a:pathLst>
              <a:path w="1436981" h="1348150">
                <a:moveTo>
                  <a:pt x="0" y="0"/>
                </a:moveTo>
                <a:lnTo>
                  <a:pt x="1436982" y="0"/>
                </a:lnTo>
                <a:lnTo>
                  <a:pt x="1436982" y="1348150"/>
                </a:lnTo>
                <a:lnTo>
                  <a:pt x="0" y="13481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4" name="TextBox 4"/>
          <p:cNvSpPr txBox="1"/>
          <p:nvPr/>
        </p:nvSpPr>
        <p:spPr>
          <a:xfrm>
            <a:off x="5590460" y="625920"/>
            <a:ext cx="11493011" cy="1952525"/>
          </a:xfrm>
          <a:prstGeom prst="rect">
            <a:avLst/>
          </a:prstGeom>
        </p:spPr>
        <p:txBody>
          <a:bodyPr lIns="0" tIns="0" rIns="0" bIns="0" rtlCol="0" anchor="t">
            <a:spAutoFit/>
          </a:bodyPr>
          <a:lstStyle/>
          <a:p>
            <a:pPr algn="l">
              <a:lnSpc>
                <a:spcPts val="15612"/>
              </a:lnSpc>
            </a:pPr>
            <a:r>
              <a:rPr lang="en-US" sz="12197" spc="-24">
                <a:solidFill>
                  <a:srgbClr val="000000"/>
                </a:solidFill>
                <a:latin typeface="Poppins Bold"/>
                <a:ea typeface="Poppins Bold"/>
                <a:cs typeface="Poppins Bold"/>
                <a:sym typeface="Poppins Bold"/>
              </a:rPr>
              <a:t>TEŞEKKÜRLER</a:t>
            </a:r>
          </a:p>
        </p:txBody>
      </p:sp>
    </p:spTree>
  </p:cSld>
  <p:clrMapOvr>
    <a:masterClrMapping/>
  </p:clrMapOvr>
  <p:transition spd="slow">
    <p:wipe/>
  </p:transition>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808</Words>
  <Application>Microsoft Office PowerPoint</Application>
  <PresentationFormat>Custom</PresentationFormat>
  <Paragraphs>57</Paragraphs>
  <Slides>13</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Gagalin</vt:lpstr>
      <vt:lpstr>Calibri</vt:lpstr>
      <vt:lpstr>Barlow Semi-Bold</vt:lpstr>
      <vt:lpstr>Poppins Bold</vt:lpstr>
      <vt:lpstr>Open Sauce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Mavi ve Beyaz Modern Villa Kiralama Hizmetleri Sunum</dc:title>
  <cp:lastModifiedBy>Melek Sena ÖZTÜRK</cp:lastModifiedBy>
  <cp:revision>3</cp:revision>
  <dcterms:created xsi:type="dcterms:W3CDTF">2006-08-16T00:00:00Z</dcterms:created>
  <dcterms:modified xsi:type="dcterms:W3CDTF">2024-09-22T19:29:43Z</dcterms:modified>
  <dc:identifier>DAGRfZr2CkU</dc:identifier>
</cp:coreProperties>
</file>